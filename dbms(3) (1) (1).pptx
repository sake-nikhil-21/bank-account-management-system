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68" r:id="rId15"/>
    <p:sldId id="269" r:id="rId16"/>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2" d="100"/>
          <a:sy n="52" d="100"/>
        </p:scale>
        <p:origin x="850"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00BA60-0C24-44FF-A574-AE115301EC73}"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B7AAA0-B4D4-4C35-9C0F-D49E10DE72FA}" type="slidenum">
              <a:rPr lang="en-IN" smtClean="0"/>
              <a:t>‹#›</a:t>
            </a:fld>
            <a:endParaRPr lang="en-IN"/>
          </a:p>
        </p:txBody>
      </p:sp>
    </p:spTree>
    <p:extLst>
      <p:ext uri="{BB962C8B-B14F-4D97-AF65-F5344CB8AC3E}">
        <p14:creationId xmlns:p14="http://schemas.microsoft.com/office/powerpoint/2010/main" val="4054294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8/18/2026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handandas27/Bank-Management-System?utm_source=chatgpt.com" TargetMode="External"/><Relationship Id="rId2" Type="http://schemas.openxmlformats.org/officeDocument/2006/relationships/hyperlink" Target="https://github.com/chandandas27/Bank-Management-System"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object 2">
            <a:extLst>
              <a:ext uri="{FF2B5EF4-FFF2-40B4-BE49-F238E27FC236}">
                <a16:creationId xmlns:a16="http://schemas.microsoft.com/office/drawing/2014/main" id="{E87E5199-CEB9-F8FC-4CC2-4DED2B19ED49}"/>
              </a:ext>
            </a:extLst>
          </p:cNvPr>
          <p:cNvPicPr/>
          <p:nvPr/>
        </p:nvPicPr>
        <p:blipFill>
          <a:blip r:embed="rId2" cstate="print"/>
          <a:stretch>
            <a:fillRect/>
          </a:stretch>
        </p:blipFill>
        <p:spPr>
          <a:xfrm>
            <a:off x="5315575" y="419101"/>
            <a:ext cx="6934200" cy="1138407"/>
          </a:xfrm>
          <a:prstGeom prst="rect">
            <a:avLst/>
          </a:prstGeom>
        </p:spPr>
      </p:pic>
      <p:sp>
        <p:nvSpPr>
          <p:cNvPr id="28" name="object 3">
            <a:extLst>
              <a:ext uri="{FF2B5EF4-FFF2-40B4-BE49-F238E27FC236}">
                <a16:creationId xmlns:a16="http://schemas.microsoft.com/office/drawing/2014/main" id="{22AFCCD6-56ED-3C95-6FE8-A0D321D820CC}"/>
              </a:ext>
            </a:extLst>
          </p:cNvPr>
          <p:cNvSpPr txBox="1">
            <a:spLocks/>
          </p:cNvSpPr>
          <p:nvPr/>
        </p:nvSpPr>
        <p:spPr>
          <a:xfrm>
            <a:off x="4578092" y="1557508"/>
            <a:ext cx="8409166" cy="2120581"/>
          </a:xfrm>
          <a:prstGeom prst="rect">
            <a:avLst/>
          </a:prstGeom>
        </p:spPr>
        <p:txBody>
          <a:bodyPr vert="horz" wrap="square" lIns="0" tIns="11430"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nSpc>
                <a:spcPct val="150000"/>
              </a:lnSpc>
              <a:spcBef>
                <a:spcPts val="90"/>
              </a:spcBef>
            </a:pPr>
            <a:r>
              <a:rPr lang="en-US" sz="3600" spc="-10" dirty="0">
                <a:latin typeface="Times New Roman" panose="02020603050405020304" pitchFamily="18" charset="0"/>
                <a:cs typeface="Times New Roman" panose="02020603050405020304" pitchFamily="18" charset="0"/>
              </a:rPr>
              <a:t> Database Management System</a:t>
            </a:r>
            <a:br>
              <a:rPr lang="en-US" sz="3600" spc="-10" dirty="0">
                <a:latin typeface="Times New Roman" panose="02020603050405020304" pitchFamily="18" charset="0"/>
                <a:cs typeface="Times New Roman" panose="02020603050405020304" pitchFamily="18" charset="0"/>
              </a:rPr>
            </a:br>
            <a:r>
              <a:rPr lang="en-US" sz="3600" spc="-10" dirty="0">
                <a:latin typeface="Times New Roman" panose="02020603050405020304" pitchFamily="18" charset="0"/>
                <a:cs typeface="Times New Roman" panose="02020603050405020304" pitchFamily="18" charset="0"/>
              </a:rPr>
              <a:t> Cornerstone Project</a:t>
            </a:r>
            <a:br>
              <a:rPr lang="en-US" sz="2200" spc="-10" dirty="0">
                <a:latin typeface="Times New Roman" panose="02020603050405020304" pitchFamily="18" charset="0"/>
                <a:cs typeface="Times New Roman" panose="02020603050405020304" pitchFamily="18" charset="0"/>
              </a:rPr>
            </a:br>
            <a:endParaRPr lang="en-US" sz="2200" spc="-10" dirty="0">
              <a:latin typeface="Times New Roman" panose="02020603050405020304" pitchFamily="18" charset="0"/>
              <a:cs typeface="Times New Roman" panose="02020603050405020304" pitchFamily="18" charset="0"/>
            </a:endParaRPr>
          </a:p>
        </p:txBody>
      </p:sp>
      <p:sp>
        <p:nvSpPr>
          <p:cNvPr id="29" name="object 4">
            <a:extLst>
              <a:ext uri="{FF2B5EF4-FFF2-40B4-BE49-F238E27FC236}">
                <a16:creationId xmlns:a16="http://schemas.microsoft.com/office/drawing/2014/main" id="{CC0D838A-8660-C6FE-0615-C812616D283E}"/>
              </a:ext>
            </a:extLst>
          </p:cNvPr>
          <p:cNvSpPr txBox="1">
            <a:spLocks/>
          </p:cNvSpPr>
          <p:nvPr/>
        </p:nvSpPr>
        <p:spPr>
          <a:xfrm>
            <a:off x="4876800" y="3305516"/>
            <a:ext cx="7811750" cy="5497659"/>
          </a:xfrm>
          <a:prstGeom prst="rect">
            <a:avLst/>
          </a:prstGeom>
        </p:spPr>
        <p:txBody>
          <a:bodyPr vert="horz" wrap="square" lIns="0" tIns="16510" rIns="0" bIns="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130"/>
              </a:spcBef>
              <a:buNone/>
            </a:pPr>
            <a:r>
              <a:rPr lang="en-IN" sz="2800" b="1" dirty="0">
                <a:latin typeface="Times New Roman" panose="02020603050405020304" pitchFamily="18" charset="0"/>
                <a:cs typeface="Times New Roman" panose="02020603050405020304" pitchFamily="18" charset="0"/>
              </a:rPr>
              <a:t>Bank Account Management System</a:t>
            </a:r>
          </a:p>
          <a:p>
            <a:pPr algn="ctr">
              <a:spcBef>
                <a:spcPts val="130"/>
              </a:spcBef>
            </a:pPr>
            <a:endParaRPr lang="en-IN" sz="2800" dirty="0">
              <a:solidFill>
                <a:srgbClr val="FF0000"/>
              </a:solidFill>
              <a:latin typeface="Times New Roman" panose="02020603050405020304" pitchFamily="18" charset="0"/>
              <a:cs typeface="Times New Roman" panose="02020603050405020304" pitchFamily="18" charset="0"/>
            </a:endParaRPr>
          </a:p>
          <a:p>
            <a:pPr marL="0" indent="0" algn="ctr">
              <a:spcBef>
                <a:spcPts val="130"/>
              </a:spcBef>
              <a:buNone/>
            </a:pPr>
            <a:r>
              <a:rPr lang="en-IN" sz="2800" dirty="0">
                <a:solidFill>
                  <a:srgbClr val="FF0000"/>
                </a:solidFill>
                <a:latin typeface="Times New Roman" panose="02020603050405020304" pitchFamily="18" charset="0"/>
                <a:cs typeface="Times New Roman" panose="02020603050405020304" pitchFamily="18" charset="0"/>
              </a:rPr>
              <a:t>Presented</a:t>
            </a:r>
            <a:r>
              <a:rPr lang="en-IN" sz="2800" spc="80" dirty="0">
                <a:solidFill>
                  <a:srgbClr val="FF0000"/>
                </a:solidFill>
                <a:latin typeface="Times New Roman" panose="02020603050405020304" pitchFamily="18" charset="0"/>
                <a:cs typeface="Times New Roman" panose="02020603050405020304" pitchFamily="18" charset="0"/>
              </a:rPr>
              <a:t> </a:t>
            </a:r>
            <a:r>
              <a:rPr lang="en-IN" sz="2800" spc="-25" dirty="0">
                <a:solidFill>
                  <a:srgbClr val="FF0000"/>
                </a:solidFill>
                <a:latin typeface="Times New Roman" panose="02020603050405020304" pitchFamily="18" charset="0"/>
                <a:cs typeface="Times New Roman" panose="02020603050405020304" pitchFamily="18" charset="0"/>
              </a:rPr>
              <a:t>by</a:t>
            </a:r>
          </a:p>
          <a:p>
            <a:pPr marL="0" indent="0" algn="ctr">
              <a:spcBef>
                <a:spcPts val="130"/>
              </a:spcBef>
              <a:buNone/>
            </a:pPr>
            <a:endParaRPr lang="en-IN" sz="2800" spc="-25" dirty="0">
              <a:solidFill>
                <a:srgbClr val="FF0000"/>
              </a:solidFill>
              <a:latin typeface="Times New Roman" panose="02020603050405020304" pitchFamily="18" charset="0"/>
              <a:cs typeface="Times New Roman" panose="02020603050405020304" pitchFamily="18" charset="0"/>
            </a:endParaRPr>
          </a:p>
          <a:p>
            <a:pPr marL="0" indent="0" algn="ctr">
              <a:spcBef>
                <a:spcPts val="130"/>
              </a:spcBef>
              <a:buNone/>
            </a:pPr>
            <a:r>
              <a:rPr lang="en-IN" sz="2800" spc="-10" dirty="0">
                <a:solidFill>
                  <a:srgbClr val="17375E"/>
                </a:solidFill>
                <a:latin typeface="Times New Roman" panose="02020603050405020304" pitchFamily="18" charset="0"/>
                <a:cs typeface="Times New Roman" panose="02020603050405020304" pitchFamily="18" charset="0"/>
              </a:rPr>
              <a:t>   S. NIKHIL(25B11AIA57) </a:t>
            </a:r>
          </a:p>
          <a:p>
            <a:pPr marL="0" indent="0" algn="ctr">
              <a:spcBef>
                <a:spcPts val="130"/>
              </a:spcBef>
              <a:buNone/>
            </a:pPr>
            <a:r>
              <a:rPr lang="en-IN" sz="2800" spc="-10" dirty="0">
                <a:solidFill>
                  <a:srgbClr val="17375E"/>
                </a:solidFill>
                <a:latin typeface="Times New Roman" panose="02020603050405020304" pitchFamily="18" charset="0"/>
                <a:cs typeface="Times New Roman" panose="02020603050405020304" pitchFamily="18" charset="0"/>
              </a:rPr>
              <a:t>V. LAKSHMI KARTHIK(25B11AIC38)</a:t>
            </a:r>
          </a:p>
          <a:p>
            <a:pPr marL="0" indent="0" algn="ctr">
              <a:spcBef>
                <a:spcPts val="130"/>
              </a:spcBef>
              <a:buNone/>
            </a:pPr>
            <a:r>
              <a:rPr lang="en-IN" sz="2800" spc="-10" dirty="0">
                <a:solidFill>
                  <a:srgbClr val="17375E"/>
                </a:solidFill>
                <a:latin typeface="Times New Roman" panose="02020603050405020304" pitchFamily="18" charset="0"/>
                <a:cs typeface="Times New Roman" panose="02020603050405020304" pitchFamily="18" charset="0"/>
              </a:rPr>
              <a:t>T. MANISH KOUSHIK(25B11AIB71)</a:t>
            </a:r>
          </a:p>
          <a:p>
            <a:pPr marL="0" indent="0" algn="ctr">
              <a:spcBef>
                <a:spcPts val="130"/>
              </a:spcBef>
              <a:buNone/>
            </a:pPr>
            <a:r>
              <a:rPr lang="en-IN" sz="2800" spc="-10" dirty="0">
                <a:solidFill>
                  <a:srgbClr val="17375E"/>
                </a:solidFill>
                <a:latin typeface="Times New Roman" panose="02020603050405020304" pitchFamily="18" charset="0"/>
                <a:cs typeface="Times New Roman" panose="02020603050405020304" pitchFamily="18" charset="0"/>
              </a:rPr>
              <a:t>CH. VINAY KUMAR(25B11AI225)</a:t>
            </a:r>
          </a:p>
          <a:p>
            <a:pPr marL="0" indent="0" algn="ctr">
              <a:spcBef>
                <a:spcPts val="130"/>
              </a:spcBef>
              <a:buNone/>
            </a:pPr>
            <a:endParaRPr lang="en-IN" sz="2800" spc="-10" dirty="0">
              <a:solidFill>
                <a:srgbClr val="17375E"/>
              </a:solidFill>
              <a:latin typeface="Times New Roman" panose="02020603050405020304" pitchFamily="18" charset="0"/>
              <a:cs typeface="Times New Roman" panose="02020603050405020304" pitchFamily="18" charset="0"/>
            </a:endParaRPr>
          </a:p>
          <a:p>
            <a:pPr marL="0" indent="0" algn="ctr">
              <a:spcBef>
                <a:spcPts val="994"/>
              </a:spcBef>
              <a:buNone/>
            </a:pPr>
            <a:r>
              <a:rPr lang="en-IN" sz="2800" dirty="0">
                <a:solidFill>
                  <a:srgbClr val="943735"/>
                </a:solidFill>
                <a:latin typeface="Times New Roman" panose="02020603050405020304" pitchFamily="18" charset="0"/>
                <a:cs typeface="Times New Roman" panose="02020603050405020304" pitchFamily="18" charset="0"/>
              </a:rPr>
              <a:t>Department of </a:t>
            </a:r>
          </a:p>
          <a:p>
            <a:pPr marL="0" indent="0" algn="ctr">
              <a:spcBef>
                <a:spcPts val="994"/>
              </a:spcBef>
              <a:buNone/>
            </a:pPr>
            <a:r>
              <a:rPr lang="en-IN" sz="2800" dirty="0">
                <a:solidFill>
                  <a:srgbClr val="943735"/>
                </a:solidFill>
                <a:latin typeface="Times New Roman" panose="02020603050405020304" pitchFamily="18" charset="0"/>
                <a:cs typeface="Times New Roman" panose="02020603050405020304" pitchFamily="18" charset="0"/>
              </a:rPr>
              <a:t>Artificial Intelligence and Machine Learning</a:t>
            </a:r>
            <a:endParaRPr lang="en-IN" sz="2800" spc="-10" dirty="0">
              <a:solidFill>
                <a:srgbClr val="943735"/>
              </a:solidFill>
              <a:latin typeface="Times New Roman" panose="02020603050405020304" pitchFamily="18" charset="0"/>
              <a:cs typeface="Times New Roman" panose="02020603050405020304" pitchFamily="18" charset="0"/>
            </a:endParaRPr>
          </a:p>
          <a:p>
            <a:pPr marL="1270" algn="ctr">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DAD25D1-0F0E-32C3-3234-31F0EFF6ADEA}"/>
              </a:ext>
            </a:extLst>
          </p:cNvPr>
          <p:cNvSpPr txBox="1"/>
          <p:nvPr/>
        </p:nvSpPr>
        <p:spPr>
          <a:xfrm>
            <a:off x="14453419" y="8803175"/>
            <a:ext cx="3199849" cy="1231106"/>
          </a:xfrm>
          <a:prstGeom prst="rect">
            <a:avLst/>
          </a:prstGeom>
          <a:noFill/>
        </p:spPr>
        <p:txBody>
          <a:bodyPr wrap="square" rtlCol="0">
            <a:spAutoFit/>
          </a:bodyPr>
          <a:lstStyle/>
          <a:p>
            <a:pPr algn="ctr"/>
            <a:r>
              <a:rPr lang="en-IN" sz="2800" b="1" dirty="0">
                <a:solidFill>
                  <a:srgbClr val="FF0000"/>
                </a:solidFill>
              </a:rPr>
              <a:t>GUIDED BY</a:t>
            </a:r>
          </a:p>
          <a:p>
            <a:endParaRPr lang="en-IN" dirty="0">
              <a:solidFill>
                <a:srgbClr val="002060"/>
              </a:solidFill>
            </a:endParaRPr>
          </a:p>
          <a:p>
            <a:pPr algn="ctr"/>
            <a:r>
              <a:rPr lang="en-IN" sz="2800" b="1" dirty="0">
                <a:solidFill>
                  <a:srgbClr val="002060"/>
                </a:solidFill>
              </a:rPr>
              <a:t>V.G.L.NARSAMBHA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96369" y="1002154"/>
            <a:ext cx="4525598" cy="538609"/>
          </a:xfrm>
          <a:prstGeom prst="rect">
            <a:avLst/>
          </a:prstGeom>
          <a:noFill/>
        </p:spPr>
        <p:txBody>
          <a:bodyPr wrap="none" anchor="ctr">
            <a:spAutoFit/>
          </a:bodyPr>
          <a:lstStyle/>
          <a:p>
            <a:pPr algn="ctr"/>
            <a:r>
              <a:rPr lang="en-IN" sz="2900" b="1" dirty="0">
                <a:solidFill>
                  <a:srgbClr val="0A3769"/>
                </a:solidFill>
                <a:latin typeface="Poppins"/>
              </a:rPr>
              <a:t>Presentation Overview</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2</a:t>
            </a:r>
          </a:p>
        </p:txBody>
      </p:sp>
      <p:sp>
        <p:nvSpPr>
          <p:cNvPr id="31" name="Rounded Rectangle 30"/>
          <p:cNvSpPr/>
          <p:nvPr/>
        </p:nvSpPr>
        <p:spPr>
          <a:xfrm>
            <a:off x="1143000" y="2971800"/>
            <a:ext cx="5047488" cy="4572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581912" y="3383280"/>
            <a:ext cx="192024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PHASE I</a:t>
            </a:r>
          </a:p>
        </p:txBody>
      </p:sp>
      <p:sp>
        <p:nvSpPr>
          <p:cNvPr id="33" name="TextBox 32"/>
          <p:cNvSpPr txBox="1"/>
          <p:nvPr/>
        </p:nvSpPr>
        <p:spPr>
          <a:xfrm>
            <a:off x="1581912" y="4160520"/>
            <a:ext cx="4069080" cy="2926080"/>
          </a:xfrm>
          <a:prstGeom prst="rect">
            <a:avLst/>
          </a:prstGeom>
          <a:noFill/>
        </p:spPr>
        <p:txBody>
          <a:bodyPr wrap="square" lIns="45720" rIns="45720">
            <a:spAutoFit/>
          </a:bodyPr>
          <a:lstStyle/>
          <a:p>
            <a:pPr>
              <a:spcAft>
                <a:spcPts val="900"/>
              </a:spcAft>
              <a:defRPr sz="1600">
                <a:solidFill>
                  <a:srgbClr val="232D3C"/>
                </a:solidFill>
                <a:latin typeface="Poppins"/>
              </a:defRPr>
            </a:pPr>
            <a:r>
              <a:t>• Abstract</a:t>
            </a:r>
          </a:p>
          <a:p>
            <a:pPr>
              <a:spcAft>
                <a:spcPts val="900"/>
              </a:spcAft>
              <a:defRPr sz="1600">
                <a:solidFill>
                  <a:srgbClr val="232D3C"/>
                </a:solidFill>
                <a:latin typeface="Poppins"/>
              </a:defRPr>
            </a:pPr>
            <a:r>
              <a:t>• Introduction</a:t>
            </a:r>
          </a:p>
          <a:p>
            <a:pPr>
              <a:spcAft>
                <a:spcPts val="900"/>
              </a:spcAft>
              <a:defRPr sz="1600">
                <a:solidFill>
                  <a:srgbClr val="232D3C"/>
                </a:solidFill>
                <a:latin typeface="Poppins"/>
              </a:defRPr>
            </a:pPr>
            <a:r>
              <a:t>• Problem Statement</a:t>
            </a:r>
          </a:p>
          <a:p>
            <a:pPr>
              <a:spcAft>
                <a:spcPts val="900"/>
              </a:spcAft>
              <a:defRPr sz="1600">
                <a:solidFill>
                  <a:srgbClr val="232D3C"/>
                </a:solidFill>
                <a:latin typeface="Poppins"/>
              </a:defRPr>
            </a:pPr>
            <a:r>
              <a:t>• Objectives</a:t>
            </a:r>
          </a:p>
        </p:txBody>
      </p:sp>
      <p:sp>
        <p:nvSpPr>
          <p:cNvPr id="34" name="Rounded Rectangle 33"/>
          <p:cNvSpPr/>
          <p:nvPr/>
        </p:nvSpPr>
        <p:spPr>
          <a:xfrm>
            <a:off x="6620256" y="2971800"/>
            <a:ext cx="5047488" cy="4572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059168" y="3383280"/>
            <a:ext cx="192024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PHASE II</a:t>
            </a:r>
          </a:p>
        </p:txBody>
      </p:sp>
      <p:sp>
        <p:nvSpPr>
          <p:cNvPr id="36" name="TextBox 35"/>
          <p:cNvSpPr txBox="1"/>
          <p:nvPr/>
        </p:nvSpPr>
        <p:spPr>
          <a:xfrm>
            <a:off x="7059168" y="4160520"/>
            <a:ext cx="4069080" cy="2926080"/>
          </a:xfrm>
          <a:prstGeom prst="rect">
            <a:avLst/>
          </a:prstGeom>
          <a:noFill/>
        </p:spPr>
        <p:txBody>
          <a:bodyPr wrap="square" lIns="45720" rIns="45720">
            <a:spAutoFit/>
          </a:bodyPr>
          <a:lstStyle/>
          <a:p>
            <a:pPr>
              <a:spcAft>
                <a:spcPts val="900"/>
              </a:spcAft>
              <a:defRPr sz="1600">
                <a:solidFill>
                  <a:srgbClr val="232D3C"/>
                </a:solidFill>
                <a:latin typeface="Poppins"/>
              </a:defRPr>
            </a:pPr>
            <a:r>
              <a:t>• System Analysis</a:t>
            </a:r>
          </a:p>
          <a:p>
            <a:pPr>
              <a:spcAft>
                <a:spcPts val="900"/>
              </a:spcAft>
              <a:defRPr sz="1600">
                <a:solidFill>
                  <a:srgbClr val="232D3C"/>
                </a:solidFill>
                <a:latin typeface="Poppins"/>
              </a:defRPr>
            </a:pPr>
            <a:r>
              <a:t>• Database Design</a:t>
            </a:r>
          </a:p>
          <a:p>
            <a:pPr>
              <a:spcAft>
                <a:spcPts val="900"/>
              </a:spcAft>
              <a:defRPr sz="1600">
                <a:solidFill>
                  <a:srgbClr val="232D3C"/>
                </a:solidFill>
                <a:latin typeface="Poppins"/>
              </a:defRPr>
            </a:pPr>
            <a:r>
              <a:t>• Tools &amp; Technologies</a:t>
            </a:r>
          </a:p>
        </p:txBody>
      </p:sp>
      <p:sp>
        <p:nvSpPr>
          <p:cNvPr id="37" name="Rounded Rectangle 36"/>
          <p:cNvSpPr/>
          <p:nvPr/>
        </p:nvSpPr>
        <p:spPr>
          <a:xfrm>
            <a:off x="12097512" y="2971800"/>
            <a:ext cx="5047488" cy="4572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2536424" y="3383280"/>
            <a:ext cx="192024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PHASE III</a:t>
            </a:r>
          </a:p>
        </p:txBody>
      </p:sp>
      <p:sp>
        <p:nvSpPr>
          <p:cNvPr id="39" name="TextBox 38"/>
          <p:cNvSpPr txBox="1"/>
          <p:nvPr/>
        </p:nvSpPr>
        <p:spPr>
          <a:xfrm>
            <a:off x="12536424" y="4160520"/>
            <a:ext cx="4069080" cy="2926080"/>
          </a:xfrm>
          <a:prstGeom prst="rect">
            <a:avLst/>
          </a:prstGeom>
          <a:noFill/>
        </p:spPr>
        <p:txBody>
          <a:bodyPr wrap="square" lIns="45720" rIns="45720">
            <a:spAutoFit/>
          </a:bodyPr>
          <a:lstStyle/>
          <a:p>
            <a:pPr>
              <a:spcAft>
                <a:spcPts val="900"/>
              </a:spcAft>
              <a:defRPr sz="1600">
                <a:solidFill>
                  <a:srgbClr val="232D3C"/>
                </a:solidFill>
                <a:latin typeface="Poppins"/>
              </a:defRPr>
            </a:pPr>
            <a:r>
              <a:t>• Entities &amp; Attributes</a:t>
            </a:r>
          </a:p>
          <a:p>
            <a:pPr>
              <a:spcAft>
                <a:spcPts val="900"/>
              </a:spcAft>
              <a:defRPr sz="1600">
                <a:solidFill>
                  <a:srgbClr val="232D3C"/>
                </a:solidFill>
                <a:latin typeface="Poppins"/>
              </a:defRPr>
            </a:pPr>
            <a:r>
              <a:t>• Relationships</a:t>
            </a:r>
          </a:p>
          <a:p>
            <a:pPr>
              <a:spcAft>
                <a:spcPts val="900"/>
              </a:spcAft>
              <a:defRPr sz="1600">
                <a:solidFill>
                  <a:srgbClr val="232D3C"/>
                </a:solidFill>
                <a:latin typeface="Poppins"/>
              </a:defRPr>
            </a:pPr>
            <a:r>
              <a:t>• ER Diagram</a:t>
            </a:r>
          </a:p>
          <a:p>
            <a:pPr>
              <a:spcAft>
                <a:spcPts val="900"/>
              </a:spcAft>
              <a:defRPr sz="1600">
                <a:solidFill>
                  <a:srgbClr val="232D3C"/>
                </a:solidFill>
                <a:latin typeface="Poppins"/>
              </a:defRPr>
            </a:pPr>
            <a:r>
              <a:t>• Relational Schema</a:t>
            </a:r>
          </a:p>
          <a:p>
            <a:pPr>
              <a:spcAft>
                <a:spcPts val="900"/>
              </a:spcAft>
              <a:defRPr sz="1600">
                <a:solidFill>
                  <a:srgbClr val="232D3C"/>
                </a:solidFill>
                <a:latin typeface="Poppins"/>
              </a:defRPr>
            </a:pPr>
            <a:r>
              <a:t>• Expected Outcome</a:t>
            </a:r>
          </a:p>
        </p:txBody>
      </p:sp>
      <p:sp>
        <p:nvSpPr>
          <p:cNvPr id="40" name="Rectangle 39"/>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76665" y="1038287"/>
            <a:ext cx="1856598" cy="538609"/>
          </a:xfrm>
          <a:prstGeom prst="rect">
            <a:avLst/>
          </a:prstGeom>
          <a:noFill/>
        </p:spPr>
        <p:txBody>
          <a:bodyPr wrap="none" anchor="ctr">
            <a:spAutoFit/>
          </a:bodyPr>
          <a:lstStyle/>
          <a:p>
            <a:pPr algn="ctr"/>
            <a:r>
              <a:rPr sz="2900" b="1" dirty="0">
                <a:solidFill>
                  <a:srgbClr val="0A3769"/>
                </a:solidFill>
                <a:latin typeface="Poppins"/>
              </a:rPr>
              <a:t>Abstract</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3</a:t>
            </a:r>
          </a:p>
        </p:txBody>
      </p:sp>
      <p:sp>
        <p:nvSpPr>
          <p:cNvPr id="31" name="Rounded Rectangle 30"/>
          <p:cNvSpPr/>
          <p:nvPr/>
        </p:nvSpPr>
        <p:spPr>
          <a:xfrm>
            <a:off x="1143000" y="2331720"/>
            <a:ext cx="16002000" cy="5212080"/>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554480" y="2788920"/>
            <a:ext cx="15179040" cy="594360"/>
          </a:xfrm>
          <a:prstGeom prst="rect">
            <a:avLst/>
          </a:prstGeom>
          <a:noFill/>
        </p:spPr>
        <p:txBody>
          <a:bodyPr wrap="square" lIns="18288" tIns="18288" rIns="18288" bIns="18288">
            <a:spAutoFit/>
          </a:bodyPr>
          <a:lstStyle/>
          <a:p>
            <a:pPr algn="l"/>
            <a:r>
              <a:rPr sz="2000" b="1">
                <a:solidFill>
                  <a:srgbClr val="0A3769"/>
                </a:solidFill>
                <a:latin typeface="Poppins"/>
              </a:rPr>
              <a:t>Bank Account Management System</a:t>
            </a:r>
          </a:p>
        </p:txBody>
      </p:sp>
      <p:sp>
        <p:nvSpPr>
          <p:cNvPr id="33" name="TextBox 32"/>
          <p:cNvSpPr txBox="1"/>
          <p:nvPr/>
        </p:nvSpPr>
        <p:spPr>
          <a:xfrm>
            <a:off x="1554480" y="3520440"/>
            <a:ext cx="14813280" cy="1508760"/>
          </a:xfrm>
          <a:prstGeom prst="rect">
            <a:avLst/>
          </a:prstGeom>
          <a:noFill/>
        </p:spPr>
        <p:txBody>
          <a:bodyPr wrap="square" lIns="18288" tIns="18288" rIns="18288" bIns="18288">
            <a:spAutoFit/>
          </a:bodyPr>
          <a:lstStyle/>
          <a:p>
            <a:pPr algn="l"/>
            <a:r>
              <a:rPr sz="1700" b="0">
                <a:solidFill>
                  <a:srgbClr val="232D3C"/>
                </a:solidFill>
                <a:latin typeface="Poppins"/>
              </a:rPr>
              <a:t>The Bank Account Management System is a relational database model designed to organize core banking records in a single, connected structure. It maintains customer information and links customers with accounts, beneficiaries and loans, while accounts are connected to branches, cards and transaction history. The model also records loan payments and supports branch-level employee information.</a:t>
            </a:r>
          </a:p>
        </p:txBody>
      </p:sp>
      <p:sp>
        <p:nvSpPr>
          <p:cNvPr id="34" name="TextBox 33"/>
          <p:cNvSpPr txBox="1"/>
          <p:nvPr/>
        </p:nvSpPr>
        <p:spPr>
          <a:xfrm>
            <a:off x="1554480" y="5257800"/>
            <a:ext cx="14813280" cy="1417320"/>
          </a:xfrm>
          <a:prstGeom prst="rect">
            <a:avLst/>
          </a:prstGeom>
          <a:noFill/>
        </p:spPr>
        <p:txBody>
          <a:bodyPr wrap="square" lIns="18288" tIns="18288" rIns="18288" bIns="18288">
            <a:spAutoFit/>
          </a:bodyPr>
          <a:lstStyle/>
          <a:p>
            <a:pPr algn="l"/>
            <a:r>
              <a:rPr sz="1700" b="0">
                <a:solidFill>
                  <a:srgbClr val="232D3C"/>
                </a:solidFill>
                <a:latin typeface="Poppins"/>
              </a:rPr>
              <a:t>The database uses primary keys to uniquely identify records and foreign keys to preserve relationships between tables. This design helps reduce duplicate information, improves consistency between related records and makes banking data easier to store, retrieve and maintain.</a:t>
            </a:r>
          </a:p>
        </p:txBody>
      </p:sp>
      <p:sp>
        <p:nvSpPr>
          <p:cNvPr id="35" name="Rounded Rectangle 34"/>
          <p:cNvSpPr/>
          <p:nvPr/>
        </p:nvSpPr>
        <p:spPr>
          <a:xfrm>
            <a:off x="1554480" y="6903720"/>
            <a:ext cx="20574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KEY PURPOSE</a:t>
            </a:r>
          </a:p>
        </p:txBody>
      </p:sp>
      <p:sp>
        <p:nvSpPr>
          <p:cNvPr id="36" name="TextBox 35"/>
          <p:cNvSpPr txBox="1"/>
          <p:nvPr/>
        </p:nvSpPr>
        <p:spPr>
          <a:xfrm>
            <a:off x="3840480" y="6839712"/>
            <a:ext cx="11704320" cy="594360"/>
          </a:xfrm>
          <a:prstGeom prst="rect">
            <a:avLst/>
          </a:prstGeom>
          <a:noFill/>
        </p:spPr>
        <p:txBody>
          <a:bodyPr wrap="square" lIns="18288" tIns="18288" rIns="18288" bIns="18288">
            <a:spAutoFit/>
          </a:bodyPr>
          <a:lstStyle/>
          <a:p>
            <a:pPr algn="l"/>
            <a:r>
              <a:rPr sz="1500" b="0">
                <a:solidFill>
                  <a:srgbClr val="646E7D"/>
                </a:solidFill>
                <a:latin typeface="Poppins"/>
              </a:rPr>
              <a:t>Centralized records • Relationship integrity • Traceable transactions • Structured banking data</a:t>
            </a:r>
          </a:p>
        </p:txBody>
      </p:sp>
      <p:sp>
        <p:nvSpPr>
          <p:cNvPr id="37" name="Rectangle 36"/>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86356" y="1148903"/>
            <a:ext cx="2643672" cy="538609"/>
          </a:xfrm>
          <a:prstGeom prst="rect">
            <a:avLst/>
          </a:prstGeom>
          <a:noFill/>
        </p:spPr>
        <p:txBody>
          <a:bodyPr wrap="none" anchor="ctr">
            <a:spAutoFit/>
          </a:bodyPr>
          <a:lstStyle/>
          <a:p>
            <a:pPr algn="ctr"/>
            <a:r>
              <a:rPr lang="en-IN" sz="2900" b="1" dirty="0">
                <a:solidFill>
                  <a:srgbClr val="0A3769"/>
                </a:solidFill>
                <a:latin typeface="Poppins"/>
              </a:rPr>
              <a:t>Introduction</a:t>
            </a:r>
            <a:endParaRPr sz="2900" b="1" dirty="0">
              <a:solidFill>
                <a:srgbClr val="0A3769"/>
              </a:solidFill>
              <a:latin typeface="Poppins"/>
            </a:endParaRP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4</a:t>
            </a:r>
          </a:p>
        </p:txBody>
      </p:sp>
      <p:sp>
        <p:nvSpPr>
          <p:cNvPr id="31" name="TextBox 30"/>
          <p:cNvSpPr txBox="1"/>
          <p:nvPr/>
        </p:nvSpPr>
        <p:spPr>
          <a:xfrm>
            <a:off x="1143000" y="2148840"/>
            <a:ext cx="7315200" cy="640080"/>
          </a:xfrm>
          <a:prstGeom prst="rect">
            <a:avLst/>
          </a:prstGeom>
          <a:noFill/>
        </p:spPr>
        <p:txBody>
          <a:bodyPr wrap="square" lIns="18288" tIns="18288" rIns="18288" bIns="18288">
            <a:spAutoFit/>
          </a:bodyPr>
          <a:lstStyle/>
          <a:p>
            <a:pPr algn="l"/>
            <a:r>
              <a:rPr sz="2200" b="1">
                <a:solidFill>
                  <a:srgbClr val="0A3769"/>
                </a:solidFill>
                <a:latin typeface="Poppins"/>
              </a:rPr>
              <a:t>Why a structured banking database?</a:t>
            </a:r>
          </a:p>
        </p:txBody>
      </p:sp>
      <p:sp>
        <p:nvSpPr>
          <p:cNvPr id="32" name="TextBox 31"/>
          <p:cNvSpPr txBox="1"/>
          <p:nvPr/>
        </p:nvSpPr>
        <p:spPr>
          <a:xfrm>
            <a:off x="1234440" y="2971800"/>
            <a:ext cx="7132320" cy="3474720"/>
          </a:xfrm>
          <a:prstGeom prst="rect">
            <a:avLst/>
          </a:prstGeom>
          <a:noFill/>
        </p:spPr>
        <p:txBody>
          <a:bodyPr wrap="square" lIns="45720" rIns="45720">
            <a:spAutoFit/>
          </a:bodyPr>
          <a:lstStyle/>
          <a:p>
            <a:pPr>
              <a:spcAft>
                <a:spcPts val="900"/>
              </a:spcAft>
              <a:defRPr sz="1700">
                <a:solidFill>
                  <a:srgbClr val="232D3C"/>
                </a:solidFill>
                <a:latin typeface="Poppins"/>
              </a:defRPr>
            </a:pPr>
            <a:r>
              <a:t>• Banking operations generate interconnected customer, account and financial records.</a:t>
            </a:r>
          </a:p>
          <a:p>
            <a:pPr>
              <a:spcAft>
                <a:spcPts val="900"/>
              </a:spcAft>
              <a:defRPr sz="1700">
                <a:solidFill>
                  <a:srgbClr val="232D3C"/>
                </a:solidFill>
                <a:latin typeface="Poppins"/>
              </a:defRPr>
            </a:pPr>
            <a:r>
              <a:t>• A relational model keeps these records connected through defined keys and relationships.</a:t>
            </a:r>
          </a:p>
          <a:p>
            <a:pPr>
              <a:spcAft>
                <a:spcPts val="900"/>
              </a:spcAft>
              <a:defRPr sz="1700">
                <a:solidFill>
                  <a:srgbClr val="232D3C"/>
                </a:solidFill>
                <a:latin typeface="Poppins"/>
              </a:defRPr>
            </a:pPr>
            <a:r>
              <a:t>• The system brings customer, account, branch, transaction, loan, card and beneficiary data into one model.</a:t>
            </a:r>
          </a:p>
        </p:txBody>
      </p:sp>
      <p:sp>
        <p:nvSpPr>
          <p:cNvPr id="33" name="Rounded Rectangle 32"/>
          <p:cNvSpPr/>
          <p:nvPr/>
        </p:nvSpPr>
        <p:spPr>
          <a:xfrm>
            <a:off x="9326880" y="2743200"/>
            <a:ext cx="6583680" cy="960120"/>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55480" y="2944368"/>
            <a:ext cx="1965960" cy="411480"/>
          </a:xfrm>
          <a:prstGeom prst="rect">
            <a:avLst/>
          </a:prstGeom>
          <a:noFill/>
        </p:spPr>
        <p:txBody>
          <a:bodyPr wrap="square" lIns="18288" tIns="18288" rIns="18288" bIns="18288">
            <a:spAutoFit/>
          </a:bodyPr>
          <a:lstStyle/>
          <a:p>
            <a:pPr algn="l"/>
            <a:r>
              <a:rPr sz="1700" b="1">
                <a:solidFill>
                  <a:srgbClr val="0A3769"/>
                </a:solidFill>
                <a:latin typeface="Poppins"/>
              </a:rPr>
              <a:t>Customer</a:t>
            </a:r>
          </a:p>
        </p:txBody>
      </p:sp>
      <p:sp>
        <p:nvSpPr>
          <p:cNvPr id="35" name="TextBox 34"/>
          <p:cNvSpPr txBox="1"/>
          <p:nvPr/>
        </p:nvSpPr>
        <p:spPr>
          <a:xfrm>
            <a:off x="11475719" y="2944368"/>
            <a:ext cx="4114800" cy="502920"/>
          </a:xfrm>
          <a:prstGeom prst="rect">
            <a:avLst/>
          </a:prstGeom>
          <a:noFill/>
        </p:spPr>
        <p:txBody>
          <a:bodyPr wrap="square" lIns="18288" tIns="18288" rIns="18288" bIns="18288">
            <a:spAutoFit/>
          </a:bodyPr>
          <a:lstStyle/>
          <a:p>
            <a:pPr algn="l"/>
            <a:r>
              <a:rPr sz="1400" b="0">
                <a:solidFill>
                  <a:srgbClr val="646E7D"/>
                </a:solidFill>
                <a:latin typeface="Poppins"/>
              </a:rPr>
              <a:t>Personal &amp; KYC data</a:t>
            </a:r>
          </a:p>
        </p:txBody>
      </p:sp>
      <p:sp>
        <p:nvSpPr>
          <p:cNvPr id="36" name="TextBox 35"/>
          <p:cNvSpPr txBox="1"/>
          <p:nvPr/>
        </p:nvSpPr>
        <p:spPr>
          <a:xfrm>
            <a:off x="12481559" y="3685032"/>
            <a:ext cx="914400" cy="320040"/>
          </a:xfrm>
          <a:prstGeom prst="rect">
            <a:avLst/>
          </a:prstGeom>
          <a:noFill/>
        </p:spPr>
        <p:txBody>
          <a:bodyPr wrap="square" lIns="18288" tIns="18288" rIns="18288" bIns="18288">
            <a:spAutoFit/>
          </a:bodyPr>
          <a:lstStyle/>
          <a:p>
            <a:pPr algn="ctr"/>
            <a:r>
              <a:rPr sz="1800" b="1">
                <a:solidFill>
                  <a:srgbClr val="0A3769"/>
                </a:solidFill>
                <a:latin typeface="Poppins"/>
              </a:rPr>
              <a:t>↓</a:t>
            </a:r>
          </a:p>
        </p:txBody>
      </p:sp>
      <p:sp>
        <p:nvSpPr>
          <p:cNvPr id="37" name="Rounded Rectangle 36"/>
          <p:cNvSpPr/>
          <p:nvPr/>
        </p:nvSpPr>
        <p:spPr>
          <a:xfrm>
            <a:off x="9326880" y="4069080"/>
            <a:ext cx="6583680" cy="960120"/>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555480" y="4270248"/>
            <a:ext cx="1965960" cy="411480"/>
          </a:xfrm>
          <a:prstGeom prst="rect">
            <a:avLst/>
          </a:prstGeom>
          <a:noFill/>
        </p:spPr>
        <p:txBody>
          <a:bodyPr wrap="square" lIns="18288" tIns="18288" rIns="18288" bIns="18288">
            <a:spAutoFit/>
          </a:bodyPr>
          <a:lstStyle/>
          <a:p>
            <a:pPr algn="l"/>
            <a:r>
              <a:rPr sz="1700" b="1">
                <a:solidFill>
                  <a:srgbClr val="0A3769"/>
                </a:solidFill>
                <a:latin typeface="Poppins"/>
              </a:rPr>
              <a:t>Account</a:t>
            </a:r>
          </a:p>
        </p:txBody>
      </p:sp>
      <p:sp>
        <p:nvSpPr>
          <p:cNvPr id="39" name="TextBox 38"/>
          <p:cNvSpPr txBox="1"/>
          <p:nvPr/>
        </p:nvSpPr>
        <p:spPr>
          <a:xfrm>
            <a:off x="11475719" y="4270248"/>
            <a:ext cx="4114800" cy="502920"/>
          </a:xfrm>
          <a:prstGeom prst="rect">
            <a:avLst/>
          </a:prstGeom>
          <a:noFill/>
        </p:spPr>
        <p:txBody>
          <a:bodyPr wrap="square" lIns="18288" tIns="18288" rIns="18288" bIns="18288">
            <a:spAutoFit/>
          </a:bodyPr>
          <a:lstStyle/>
          <a:p>
            <a:pPr algn="l"/>
            <a:r>
              <a:rPr sz="1400" b="0">
                <a:solidFill>
                  <a:srgbClr val="646E7D"/>
                </a:solidFill>
                <a:latin typeface="Poppins"/>
              </a:rPr>
              <a:t>Account &amp; balance data</a:t>
            </a:r>
          </a:p>
        </p:txBody>
      </p:sp>
      <p:sp>
        <p:nvSpPr>
          <p:cNvPr id="40" name="TextBox 39"/>
          <p:cNvSpPr txBox="1"/>
          <p:nvPr/>
        </p:nvSpPr>
        <p:spPr>
          <a:xfrm>
            <a:off x="12481559" y="5010912"/>
            <a:ext cx="914400" cy="320040"/>
          </a:xfrm>
          <a:prstGeom prst="rect">
            <a:avLst/>
          </a:prstGeom>
          <a:noFill/>
        </p:spPr>
        <p:txBody>
          <a:bodyPr wrap="square" lIns="18288" tIns="18288" rIns="18288" bIns="18288">
            <a:spAutoFit/>
          </a:bodyPr>
          <a:lstStyle/>
          <a:p>
            <a:pPr algn="ctr"/>
            <a:r>
              <a:rPr sz="1800" b="1">
                <a:solidFill>
                  <a:srgbClr val="0A3769"/>
                </a:solidFill>
                <a:latin typeface="Poppins"/>
              </a:rPr>
              <a:t>↓</a:t>
            </a:r>
          </a:p>
        </p:txBody>
      </p:sp>
      <p:sp>
        <p:nvSpPr>
          <p:cNvPr id="41" name="Rounded Rectangle 40"/>
          <p:cNvSpPr/>
          <p:nvPr/>
        </p:nvSpPr>
        <p:spPr>
          <a:xfrm>
            <a:off x="9326880" y="5394960"/>
            <a:ext cx="6583680" cy="960120"/>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555480" y="5596128"/>
            <a:ext cx="1965960" cy="411480"/>
          </a:xfrm>
          <a:prstGeom prst="rect">
            <a:avLst/>
          </a:prstGeom>
          <a:noFill/>
        </p:spPr>
        <p:txBody>
          <a:bodyPr wrap="square" lIns="18288" tIns="18288" rIns="18288" bIns="18288">
            <a:spAutoFit/>
          </a:bodyPr>
          <a:lstStyle/>
          <a:p>
            <a:pPr algn="l"/>
            <a:r>
              <a:rPr sz="1700" b="1">
                <a:solidFill>
                  <a:srgbClr val="0A3769"/>
                </a:solidFill>
                <a:latin typeface="Poppins"/>
              </a:rPr>
              <a:t>Transactions</a:t>
            </a:r>
          </a:p>
        </p:txBody>
      </p:sp>
      <p:sp>
        <p:nvSpPr>
          <p:cNvPr id="43" name="TextBox 42"/>
          <p:cNvSpPr txBox="1"/>
          <p:nvPr/>
        </p:nvSpPr>
        <p:spPr>
          <a:xfrm>
            <a:off x="11475719" y="5596128"/>
            <a:ext cx="4114800" cy="502920"/>
          </a:xfrm>
          <a:prstGeom prst="rect">
            <a:avLst/>
          </a:prstGeom>
          <a:noFill/>
        </p:spPr>
        <p:txBody>
          <a:bodyPr wrap="square" lIns="18288" tIns="18288" rIns="18288" bIns="18288">
            <a:spAutoFit/>
          </a:bodyPr>
          <a:lstStyle/>
          <a:p>
            <a:pPr algn="l"/>
            <a:r>
              <a:rPr sz="1400" b="0">
                <a:solidFill>
                  <a:srgbClr val="646E7D"/>
                </a:solidFill>
                <a:latin typeface="Poppins"/>
              </a:rPr>
              <a:t>Activity history</a:t>
            </a:r>
          </a:p>
        </p:txBody>
      </p:sp>
      <p:sp>
        <p:nvSpPr>
          <p:cNvPr id="44" name="TextBox 43"/>
          <p:cNvSpPr txBox="1"/>
          <p:nvPr/>
        </p:nvSpPr>
        <p:spPr>
          <a:xfrm>
            <a:off x="12481559" y="6336792"/>
            <a:ext cx="914400" cy="320040"/>
          </a:xfrm>
          <a:prstGeom prst="rect">
            <a:avLst/>
          </a:prstGeom>
          <a:noFill/>
        </p:spPr>
        <p:txBody>
          <a:bodyPr wrap="square" lIns="18288" tIns="18288" rIns="18288" bIns="18288">
            <a:spAutoFit/>
          </a:bodyPr>
          <a:lstStyle/>
          <a:p>
            <a:pPr algn="ctr"/>
            <a:r>
              <a:rPr sz="1800" b="1">
                <a:solidFill>
                  <a:srgbClr val="0A3769"/>
                </a:solidFill>
                <a:latin typeface="Poppins"/>
              </a:rPr>
              <a:t>↓</a:t>
            </a:r>
          </a:p>
        </p:txBody>
      </p:sp>
      <p:sp>
        <p:nvSpPr>
          <p:cNvPr id="45" name="Rounded Rectangle 44"/>
          <p:cNvSpPr/>
          <p:nvPr/>
        </p:nvSpPr>
        <p:spPr>
          <a:xfrm>
            <a:off x="9326880" y="6720840"/>
            <a:ext cx="6583680" cy="960120"/>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55480" y="6922008"/>
            <a:ext cx="1965960" cy="411480"/>
          </a:xfrm>
          <a:prstGeom prst="rect">
            <a:avLst/>
          </a:prstGeom>
          <a:noFill/>
        </p:spPr>
        <p:txBody>
          <a:bodyPr wrap="square" lIns="18288" tIns="18288" rIns="18288" bIns="18288">
            <a:spAutoFit/>
          </a:bodyPr>
          <a:lstStyle/>
          <a:p>
            <a:pPr algn="l"/>
            <a:r>
              <a:rPr sz="1700" b="1">
                <a:solidFill>
                  <a:srgbClr val="0A3769"/>
                </a:solidFill>
                <a:latin typeface="Poppins"/>
              </a:rPr>
              <a:t>Database</a:t>
            </a:r>
          </a:p>
        </p:txBody>
      </p:sp>
      <p:sp>
        <p:nvSpPr>
          <p:cNvPr id="47" name="TextBox 46"/>
          <p:cNvSpPr txBox="1"/>
          <p:nvPr/>
        </p:nvSpPr>
        <p:spPr>
          <a:xfrm>
            <a:off x="11475719" y="6922008"/>
            <a:ext cx="4114800" cy="502920"/>
          </a:xfrm>
          <a:prstGeom prst="rect">
            <a:avLst/>
          </a:prstGeom>
          <a:noFill/>
        </p:spPr>
        <p:txBody>
          <a:bodyPr wrap="square" lIns="18288" tIns="18288" rIns="18288" bIns="18288">
            <a:spAutoFit/>
          </a:bodyPr>
          <a:lstStyle/>
          <a:p>
            <a:pPr algn="l"/>
            <a:r>
              <a:rPr sz="1400" b="0">
                <a:solidFill>
                  <a:srgbClr val="646E7D"/>
                </a:solidFill>
                <a:latin typeface="Poppins"/>
              </a:rPr>
              <a:t>Related records</a:t>
            </a:r>
          </a:p>
        </p:txBody>
      </p:sp>
      <p:sp>
        <p:nvSpPr>
          <p:cNvPr id="48" name="Rectangle 47"/>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97251" y="1077233"/>
            <a:ext cx="5614036" cy="477054"/>
          </a:xfrm>
          <a:prstGeom prst="rect">
            <a:avLst/>
          </a:prstGeom>
          <a:noFill/>
        </p:spPr>
        <p:txBody>
          <a:bodyPr wrap="none" anchor="ctr">
            <a:spAutoFit/>
          </a:bodyPr>
          <a:lstStyle/>
          <a:p>
            <a:pPr algn="ctr"/>
            <a:r>
              <a:rPr sz="2500" b="1" dirty="0">
                <a:solidFill>
                  <a:srgbClr val="0A3769"/>
                </a:solidFill>
                <a:latin typeface="Poppins"/>
              </a:rPr>
              <a:t>Problem Statement &amp; Objectives</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5</a:t>
            </a:r>
          </a:p>
        </p:txBody>
      </p:sp>
      <p:sp>
        <p:nvSpPr>
          <p:cNvPr id="31" name="Rounded Rectangle 30"/>
          <p:cNvSpPr/>
          <p:nvPr/>
        </p:nvSpPr>
        <p:spPr>
          <a:xfrm>
            <a:off x="1143000" y="2331720"/>
            <a:ext cx="7635240" cy="5349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509760" y="2331720"/>
            <a:ext cx="7635240" cy="5349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572768" y="2743200"/>
            <a:ext cx="242316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PROBLEM STATEMENT</a:t>
            </a:r>
          </a:p>
        </p:txBody>
      </p:sp>
      <p:sp>
        <p:nvSpPr>
          <p:cNvPr id="34" name="TextBox 33"/>
          <p:cNvSpPr txBox="1"/>
          <p:nvPr/>
        </p:nvSpPr>
        <p:spPr>
          <a:xfrm>
            <a:off x="1572768" y="3429000"/>
            <a:ext cx="6720840" cy="3566160"/>
          </a:xfrm>
          <a:prstGeom prst="rect">
            <a:avLst/>
          </a:prstGeom>
          <a:noFill/>
        </p:spPr>
        <p:txBody>
          <a:bodyPr wrap="square" lIns="45720" rIns="45720">
            <a:spAutoFit/>
          </a:bodyPr>
          <a:lstStyle/>
          <a:p>
            <a:pPr>
              <a:spcAft>
                <a:spcPts val="900"/>
              </a:spcAft>
              <a:defRPr sz="1600">
                <a:solidFill>
                  <a:srgbClr val="232D3C"/>
                </a:solidFill>
                <a:latin typeface="Poppins"/>
              </a:defRPr>
            </a:pPr>
            <a:r>
              <a:t>• Duplicate or inconsistent customer and account information.</a:t>
            </a:r>
          </a:p>
          <a:p>
            <a:pPr>
              <a:spcAft>
                <a:spcPts val="900"/>
              </a:spcAft>
              <a:defRPr sz="1600">
                <a:solidFill>
                  <a:srgbClr val="232D3C"/>
                </a:solidFill>
                <a:latin typeface="Poppins"/>
              </a:defRPr>
            </a:pPr>
            <a:r>
              <a:t>• Difficulty maintaining links between accounts, transactions and other banking records.</a:t>
            </a:r>
          </a:p>
          <a:p>
            <a:pPr>
              <a:spcAft>
                <a:spcPts val="900"/>
              </a:spcAft>
              <a:defRPr sz="1600">
                <a:solidFill>
                  <a:srgbClr val="232D3C"/>
                </a:solidFill>
                <a:latin typeface="Poppins"/>
              </a:defRPr>
            </a:pPr>
            <a:r>
              <a:t>• Limited traceability when transaction, loan and payment records are separated.</a:t>
            </a:r>
          </a:p>
          <a:p>
            <a:pPr>
              <a:spcAft>
                <a:spcPts val="900"/>
              </a:spcAft>
              <a:defRPr sz="1600">
                <a:solidFill>
                  <a:srgbClr val="232D3C"/>
                </a:solidFill>
                <a:latin typeface="Poppins"/>
              </a:defRPr>
            </a:pPr>
            <a:r>
              <a:t>• Increased risk of data-entry errors when relationships are not enforced.</a:t>
            </a:r>
          </a:p>
        </p:txBody>
      </p:sp>
      <p:sp>
        <p:nvSpPr>
          <p:cNvPr id="35" name="Rounded Rectangle 34"/>
          <p:cNvSpPr/>
          <p:nvPr/>
        </p:nvSpPr>
        <p:spPr>
          <a:xfrm>
            <a:off x="9939528" y="2743200"/>
            <a:ext cx="1874519"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OBJECTIVES</a:t>
            </a:r>
          </a:p>
        </p:txBody>
      </p:sp>
      <p:sp>
        <p:nvSpPr>
          <p:cNvPr id="36" name="TextBox 35"/>
          <p:cNvSpPr txBox="1"/>
          <p:nvPr/>
        </p:nvSpPr>
        <p:spPr>
          <a:xfrm>
            <a:off x="9939528" y="3429000"/>
            <a:ext cx="6629400" cy="3566160"/>
          </a:xfrm>
          <a:prstGeom prst="rect">
            <a:avLst/>
          </a:prstGeom>
          <a:noFill/>
        </p:spPr>
        <p:txBody>
          <a:bodyPr wrap="square" lIns="45720" rIns="45720">
            <a:spAutoFit/>
          </a:bodyPr>
          <a:lstStyle/>
          <a:p>
            <a:pPr>
              <a:spcAft>
                <a:spcPts val="900"/>
              </a:spcAft>
              <a:defRPr sz="1600">
                <a:solidFill>
                  <a:srgbClr val="232D3C"/>
                </a:solidFill>
                <a:latin typeface="Poppins"/>
              </a:defRPr>
            </a:pPr>
            <a:r>
              <a:t>• Design a connected relational database for banking records.</a:t>
            </a:r>
          </a:p>
          <a:p>
            <a:pPr>
              <a:spcAft>
                <a:spcPts val="900"/>
              </a:spcAft>
              <a:defRPr sz="1600">
                <a:solidFill>
                  <a:srgbClr val="232D3C"/>
                </a:solidFill>
                <a:latin typeface="Poppins"/>
              </a:defRPr>
            </a:pPr>
            <a:r>
              <a:t>• Use primary and foreign keys to maintain referential integrity.</a:t>
            </a:r>
          </a:p>
          <a:p>
            <a:pPr>
              <a:spcAft>
                <a:spcPts val="900"/>
              </a:spcAft>
              <a:defRPr sz="1600">
                <a:solidFill>
                  <a:srgbClr val="232D3C"/>
                </a:solidFill>
                <a:latin typeface="Poppins"/>
              </a:defRPr>
            </a:pPr>
            <a:r>
              <a:t>• Organize transaction, loan, payment, card and beneficiary information.</a:t>
            </a:r>
          </a:p>
          <a:p>
            <a:pPr>
              <a:spcAft>
                <a:spcPts val="900"/>
              </a:spcAft>
              <a:defRPr sz="1600">
                <a:solidFill>
                  <a:srgbClr val="232D3C"/>
                </a:solidFill>
                <a:latin typeface="Poppins"/>
              </a:defRPr>
            </a:pPr>
            <a:r>
              <a:t>• Make records easier to manage, retrieve and maintain.</a:t>
            </a:r>
          </a:p>
        </p:txBody>
      </p:sp>
      <p:sp>
        <p:nvSpPr>
          <p:cNvPr id="37" name="Rectangle 36"/>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97061" y="1038287"/>
            <a:ext cx="3432350" cy="538609"/>
          </a:xfrm>
          <a:prstGeom prst="rect">
            <a:avLst/>
          </a:prstGeom>
          <a:noFill/>
        </p:spPr>
        <p:txBody>
          <a:bodyPr wrap="none" anchor="ctr">
            <a:spAutoFit/>
          </a:bodyPr>
          <a:lstStyle/>
          <a:p>
            <a:pPr algn="ctr"/>
            <a:r>
              <a:rPr sz="2900" b="1" dirty="0">
                <a:solidFill>
                  <a:srgbClr val="0A3769"/>
                </a:solidFill>
                <a:latin typeface="Poppins"/>
              </a:rPr>
              <a:t>System Analysis</a:t>
            </a:r>
            <a:r>
              <a:rPr lang="en-US" sz="2900" b="1" dirty="0">
                <a:solidFill>
                  <a:srgbClr val="0A3769"/>
                </a:solidFill>
                <a:latin typeface="Poppins"/>
              </a:rPr>
              <a:t> </a:t>
            </a:r>
            <a:endParaRPr sz="2900" b="1" dirty="0">
              <a:solidFill>
                <a:srgbClr val="0A3769"/>
              </a:solidFill>
              <a:latin typeface="Poppins"/>
            </a:endParaRP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6</a:t>
            </a:r>
          </a:p>
        </p:txBody>
      </p:sp>
      <p:sp>
        <p:nvSpPr>
          <p:cNvPr id="31" name="Rounded Rectangle 30"/>
          <p:cNvSpPr/>
          <p:nvPr/>
        </p:nvSpPr>
        <p:spPr>
          <a:xfrm>
            <a:off x="1143000" y="2423160"/>
            <a:ext cx="5047488" cy="5166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581912" y="2834640"/>
            <a:ext cx="27432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CUSTOMER MANAGEMENT</a:t>
            </a:r>
          </a:p>
        </p:txBody>
      </p:sp>
      <p:sp>
        <p:nvSpPr>
          <p:cNvPr id="33" name="TextBox 32"/>
          <p:cNvSpPr txBox="1"/>
          <p:nvPr/>
        </p:nvSpPr>
        <p:spPr>
          <a:xfrm>
            <a:off x="1581912" y="3657600"/>
            <a:ext cx="4069080" cy="3200400"/>
          </a:xfrm>
          <a:prstGeom prst="rect">
            <a:avLst/>
          </a:prstGeom>
          <a:noFill/>
        </p:spPr>
        <p:txBody>
          <a:bodyPr wrap="square" lIns="45720" rIns="45720">
            <a:spAutoFit/>
          </a:bodyPr>
          <a:lstStyle/>
          <a:p>
            <a:pPr>
              <a:spcAft>
                <a:spcPts val="900"/>
              </a:spcAft>
              <a:defRPr sz="1700">
                <a:solidFill>
                  <a:srgbClr val="232D3C"/>
                </a:solidFill>
                <a:latin typeface="Poppins"/>
              </a:defRPr>
            </a:pPr>
            <a:r>
              <a:t>• Customer profile</a:t>
            </a:r>
          </a:p>
          <a:p>
            <a:pPr>
              <a:spcAft>
                <a:spcPts val="900"/>
              </a:spcAft>
              <a:defRPr sz="1700">
                <a:solidFill>
                  <a:srgbClr val="232D3C"/>
                </a:solidFill>
                <a:latin typeface="Poppins"/>
              </a:defRPr>
            </a:pPr>
            <a:r>
              <a:t>• Contact &amp; identification data</a:t>
            </a:r>
          </a:p>
          <a:p>
            <a:pPr>
              <a:spcAft>
                <a:spcPts val="900"/>
              </a:spcAft>
              <a:defRPr sz="1700">
                <a:solidFill>
                  <a:srgbClr val="232D3C"/>
                </a:solidFill>
                <a:latin typeface="Poppins"/>
              </a:defRPr>
            </a:pPr>
            <a:r>
              <a:t>• KYC status</a:t>
            </a:r>
          </a:p>
        </p:txBody>
      </p:sp>
      <p:sp>
        <p:nvSpPr>
          <p:cNvPr id="34" name="Rounded Rectangle 33"/>
          <p:cNvSpPr/>
          <p:nvPr/>
        </p:nvSpPr>
        <p:spPr>
          <a:xfrm>
            <a:off x="6620256" y="2423160"/>
            <a:ext cx="5047488" cy="5166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059168" y="2834640"/>
            <a:ext cx="27432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ACCOUNT OPERATIONS</a:t>
            </a:r>
          </a:p>
        </p:txBody>
      </p:sp>
      <p:sp>
        <p:nvSpPr>
          <p:cNvPr id="36" name="TextBox 35"/>
          <p:cNvSpPr txBox="1"/>
          <p:nvPr/>
        </p:nvSpPr>
        <p:spPr>
          <a:xfrm>
            <a:off x="7059168" y="3657600"/>
            <a:ext cx="4069080" cy="3200400"/>
          </a:xfrm>
          <a:prstGeom prst="rect">
            <a:avLst/>
          </a:prstGeom>
          <a:noFill/>
        </p:spPr>
        <p:txBody>
          <a:bodyPr wrap="square" lIns="45720" rIns="45720">
            <a:spAutoFit/>
          </a:bodyPr>
          <a:lstStyle/>
          <a:p>
            <a:pPr>
              <a:spcAft>
                <a:spcPts val="900"/>
              </a:spcAft>
              <a:defRPr sz="1700">
                <a:solidFill>
                  <a:srgbClr val="232D3C"/>
                </a:solidFill>
                <a:latin typeface="Poppins"/>
              </a:defRPr>
            </a:pPr>
            <a:r>
              <a:t>• Account details</a:t>
            </a:r>
          </a:p>
          <a:p>
            <a:pPr>
              <a:spcAft>
                <a:spcPts val="900"/>
              </a:spcAft>
              <a:defRPr sz="1700">
                <a:solidFill>
                  <a:srgbClr val="232D3C"/>
                </a:solidFill>
                <a:latin typeface="Poppins"/>
              </a:defRPr>
            </a:pPr>
            <a:r>
              <a:t>• Account type &amp; branch</a:t>
            </a:r>
          </a:p>
          <a:p>
            <a:pPr>
              <a:spcAft>
                <a:spcPts val="900"/>
              </a:spcAft>
              <a:defRPr sz="1700">
                <a:solidFill>
                  <a:srgbClr val="232D3C"/>
                </a:solidFill>
                <a:latin typeface="Poppins"/>
              </a:defRPr>
            </a:pPr>
            <a:r>
              <a:t>• Balance &amp; status</a:t>
            </a:r>
          </a:p>
        </p:txBody>
      </p:sp>
      <p:sp>
        <p:nvSpPr>
          <p:cNvPr id="37" name="Rounded Rectangle 36"/>
          <p:cNvSpPr/>
          <p:nvPr/>
        </p:nvSpPr>
        <p:spPr>
          <a:xfrm>
            <a:off x="12097512" y="2423160"/>
            <a:ext cx="5047488" cy="5166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2536424" y="2834640"/>
            <a:ext cx="27432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FINANCIAL RECORDS</a:t>
            </a:r>
          </a:p>
        </p:txBody>
      </p:sp>
      <p:sp>
        <p:nvSpPr>
          <p:cNvPr id="39" name="TextBox 38"/>
          <p:cNvSpPr txBox="1"/>
          <p:nvPr/>
        </p:nvSpPr>
        <p:spPr>
          <a:xfrm>
            <a:off x="12536424" y="3657600"/>
            <a:ext cx="4069080" cy="3200400"/>
          </a:xfrm>
          <a:prstGeom prst="rect">
            <a:avLst/>
          </a:prstGeom>
          <a:noFill/>
        </p:spPr>
        <p:txBody>
          <a:bodyPr wrap="square" lIns="45720" rIns="45720">
            <a:spAutoFit/>
          </a:bodyPr>
          <a:lstStyle/>
          <a:p>
            <a:pPr>
              <a:spcAft>
                <a:spcPts val="900"/>
              </a:spcAft>
              <a:defRPr sz="1700">
                <a:solidFill>
                  <a:srgbClr val="232D3C"/>
                </a:solidFill>
                <a:latin typeface="Poppins"/>
              </a:defRPr>
            </a:pPr>
            <a:r>
              <a:t>• Transactions</a:t>
            </a:r>
          </a:p>
          <a:p>
            <a:pPr>
              <a:spcAft>
                <a:spcPts val="900"/>
              </a:spcAft>
              <a:defRPr sz="1700">
                <a:solidFill>
                  <a:srgbClr val="232D3C"/>
                </a:solidFill>
                <a:latin typeface="Poppins"/>
              </a:defRPr>
            </a:pPr>
            <a:r>
              <a:t>• Loans &amp; payments</a:t>
            </a:r>
          </a:p>
          <a:p>
            <a:pPr>
              <a:spcAft>
                <a:spcPts val="900"/>
              </a:spcAft>
              <a:defRPr sz="1700">
                <a:solidFill>
                  <a:srgbClr val="232D3C"/>
                </a:solidFill>
                <a:latin typeface="Poppins"/>
              </a:defRPr>
            </a:pPr>
            <a:r>
              <a:t>• Cards &amp; beneficiaries</a:t>
            </a:r>
          </a:p>
        </p:txBody>
      </p:sp>
      <p:sp>
        <p:nvSpPr>
          <p:cNvPr id="40" name="Rectangle 39"/>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35024" y="1107311"/>
            <a:ext cx="3531736" cy="538609"/>
          </a:xfrm>
          <a:prstGeom prst="rect">
            <a:avLst/>
          </a:prstGeom>
          <a:noFill/>
        </p:spPr>
        <p:txBody>
          <a:bodyPr wrap="none" anchor="ctr">
            <a:spAutoFit/>
          </a:bodyPr>
          <a:lstStyle/>
          <a:p>
            <a:pPr algn="ctr"/>
            <a:r>
              <a:rPr sz="2900" b="1" dirty="0">
                <a:solidFill>
                  <a:srgbClr val="0A3769"/>
                </a:solidFill>
                <a:latin typeface="Poppins"/>
              </a:rPr>
              <a:t>Database Design</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7</a:t>
            </a:r>
          </a:p>
        </p:txBody>
      </p:sp>
      <p:sp>
        <p:nvSpPr>
          <p:cNvPr id="31" name="TextBox 30"/>
          <p:cNvSpPr txBox="1"/>
          <p:nvPr/>
        </p:nvSpPr>
        <p:spPr>
          <a:xfrm>
            <a:off x="1143000" y="2148840"/>
            <a:ext cx="15819120" cy="502920"/>
          </a:xfrm>
          <a:prstGeom prst="rect">
            <a:avLst/>
          </a:prstGeom>
          <a:noFill/>
        </p:spPr>
        <p:txBody>
          <a:bodyPr wrap="square" lIns="18288" tIns="18288" rIns="18288" bIns="18288">
            <a:spAutoFit/>
          </a:bodyPr>
          <a:lstStyle/>
          <a:p>
            <a:pPr algn="l"/>
            <a:r>
              <a:rPr sz="2100" b="1">
                <a:solidFill>
                  <a:srgbClr val="0A3769"/>
                </a:solidFill>
                <a:latin typeface="Poppins"/>
              </a:rPr>
              <a:t>Relational design principles used in the project</a:t>
            </a:r>
          </a:p>
        </p:txBody>
      </p:sp>
      <p:sp>
        <p:nvSpPr>
          <p:cNvPr id="32" name="Rounded Rectangle 31"/>
          <p:cNvSpPr/>
          <p:nvPr/>
        </p:nvSpPr>
        <p:spPr>
          <a:xfrm>
            <a:off x="1143000" y="2971800"/>
            <a:ext cx="7543800" cy="16459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417320" y="3200400"/>
            <a:ext cx="2148840" cy="365760"/>
          </a:xfrm>
          <a:prstGeom prst="rect">
            <a:avLst/>
          </a:prstGeom>
          <a:noFill/>
        </p:spPr>
        <p:txBody>
          <a:bodyPr wrap="square" lIns="18288" tIns="18288" rIns="18288" bIns="18288">
            <a:spAutoFit/>
          </a:bodyPr>
          <a:lstStyle/>
          <a:p>
            <a:pPr algn="l"/>
            <a:r>
              <a:rPr sz="1700" b="1">
                <a:solidFill>
                  <a:srgbClr val="0A3769"/>
                </a:solidFill>
                <a:latin typeface="Poppins"/>
              </a:rPr>
              <a:t>Primary Keys</a:t>
            </a:r>
          </a:p>
        </p:txBody>
      </p:sp>
      <p:sp>
        <p:nvSpPr>
          <p:cNvPr id="34" name="TextBox 33"/>
          <p:cNvSpPr txBox="1"/>
          <p:nvPr/>
        </p:nvSpPr>
        <p:spPr>
          <a:xfrm>
            <a:off x="3657600" y="3154680"/>
            <a:ext cx="4709160" cy="960120"/>
          </a:xfrm>
          <a:prstGeom prst="rect">
            <a:avLst/>
          </a:prstGeom>
          <a:noFill/>
        </p:spPr>
        <p:txBody>
          <a:bodyPr wrap="square" lIns="18288" tIns="18288" rIns="18288" bIns="18288">
            <a:spAutoFit/>
          </a:bodyPr>
          <a:lstStyle/>
          <a:p>
            <a:pPr algn="l"/>
            <a:r>
              <a:rPr sz="1500" b="0">
                <a:solidFill>
                  <a:srgbClr val="646E7D"/>
                </a:solidFill>
                <a:latin typeface="Poppins"/>
              </a:rPr>
              <a:t>Uniquely identify each record in a table.</a:t>
            </a:r>
          </a:p>
        </p:txBody>
      </p:sp>
      <p:sp>
        <p:nvSpPr>
          <p:cNvPr id="35" name="Rounded Rectangle 34"/>
          <p:cNvSpPr/>
          <p:nvPr/>
        </p:nvSpPr>
        <p:spPr>
          <a:xfrm>
            <a:off x="9326880" y="2971800"/>
            <a:ext cx="7543800" cy="16459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0" y="3200400"/>
            <a:ext cx="2148840" cy="365760"/>
          </a:xfrm>
          <a:prstGeom prst="rect">
            <a:avLst/>
          </a:prstGeom>
          <a:noFill/>
        </p:spPr>
        <p:txBody>
          <a:bodyPr wrap="square" lIns="18288" tIns="18288" rIns="18288" bIns="18288">
            <a:spAutoFit/>
          </a:bodyPr>
          <a:lstStyle/>
          <a:p>
            <a:pPr algn="l"/>
            <a:r>
              <a:rPr sz="1700" b="1">
                <a:solidFill>
                  <a:srgbClr val="0A3769"/>
                </a:solidFill>
                <a:latin typeface="Poppins"/>
              </a:rPr>
              <a:t>Foreign Keys</a:t>
            </a:r>
          </a:p>
        </p:txBody>
      </p:sp>
      <p:sp>
        <p:nvSpPr>
          <p:cNvPr id="37" name="TextBox 36"/>
          <p:cNvSpPr txBox="1"/>
          <p:nvPr/>
        </p:nvSpPr>
        <p:spPr>
          <a:xfrm>
            <a:off x="11841480" y="3154680"/>
            <a:ext cx="4709160" cy="960120"/>
          </a:xfrm>
          <a:prstGeom prst="rect">
            <a:avLst/>
          </a:prstGeom>
          <a:noFill/>
        </p:spPr>
        <p:txBody>
          <a:bodyPr wrap="square" lIns="18288" tIns="18288" rIns="18288" bIns="18288">
            <a:spAutoFit/>
          </a:bodyPr>
          <a:lstStyle/>
          <a:p>
            <a:pPr algn="l"/>
            <a:r>
              <a:rPr sz="1500" b="0">
                <a:solidFill>
                  <a:srgbClr val="646E7D"/>
                </a:solidFill>
                <a:latin typeface="Poppins"/>
              </a:rPr>
              <a:t>Connect related records across tables.</a:t>
            </a:r>
          </a:p>
        </p:txBody>
      </p:sp>
      <p:sp>
        <p:nvSpPr>
          <p:cNvPr id="38" name="Rounded Rectangle 37"/>
          <p:cNvSpPr/>
          <p:nvPr/>
        </p:nvSpPr>
        <p:spPr>
          <a:xfrm>
            <a:off x="1143000" y="5120640"/>
            <a:ext cx="7543800" cy="16459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17320" y="5349240"/>
            <a:ext cx="2148840" cy="365760"/>
          </a:xfrm>
          <a:prstGeom prst="rect">
            <a:avLst/>
          </a:prstGeom>
          <a:noFill/>
        </p:spPr>
        <p:txBody>
          <a:bodyPr wrap="square" lIns="18288" tIns="18288" rIns="18288" bIns="18288">
            <a:spAutoFit/>
          </a:bodyPr>
          <a:lstStyle/>
          <a:p>
            <a:pPr algn="l"/>
            <a:r>
              <a:rPr sz="1700" b="1">
                <a:solidFill>
                  <a:srgbClr val="0A3769"/>
                </a:solidFill>
                <a:latin typeface="Poppins"/>
              </a:rPr>
              <a:t>Relationships</a:t>
            </a:r>
          </a:p>
        </p:txBody>
      </p:sp>
      <p:sp>
        <p:nvSpPr>
          <p:cNvPr id="40" name="TextBox 39"/>
          <p:cNvSpPr txBox="1"/>
          <p:nvPr/>
        </p:nvSpPr>
        <p:spPr>
          <a:xfrm>
            <a:off x="3657600" y="5303520"/>
            <a:ext cx="4709160" cy="960120"/>
          </a:xfrm>
          <a:prstGeom prst="rect">
            <a:avLst/>
          </a:prstGeom>
          <a:noFill/>
        </p:spPr>
        <p:txBody>
          <a:bodyPr wrap="square" lIns="18288" tIns="18288" rIns="18288" bIns="18288">
            <a:spAutoFit/>
          </a:bodyPr>
          <a:lstStyle/>
          <a:p>
            <a:pPr algn="l"/>
            <a:r>
              <a:rPr sz="1500" b="0">
                <a:solidFill>
                  <a:srgbClr val="646E7D"/>
                </a:solidFill>
                <a:latin typeface="Poppins"/>
              </a:rPr>
              <a:t>Represent customer, account, branch, loan and transaction dependencies.</a:t>
            </a:r>
          </a:p>
        </p:txBody>
      </p:sp>
      <p:sp>
        <p:nvSpPr>
          <p:cNvPr id="41" name="Rounded Rectangle 40"/>
          <p:cNvSpPr/>
          <p:nvPr/>
        </p:nvSpPr>
        <p:spPr>
          <a:xfrm>
            <a:off x="9326880" y="5120640"/>
            <a:ext cx="7543800" cy="16459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01200" y="5349240"/>
            <a:ext cx="2148840" cy="365760"/>
          </a:xfrm>
          <a:prstGeom prst="rect">
            <a:avLst/>
          </a:prstGeom>
          <a:noFill/>
        </p:spPr>
        <p:txBody>
          <a:bodyPr wrap="square" lIns="18288" tIns="18288" rIns="18288" bIns="18288">
            <a:spAutoFit/>
          </a:bodyPr>
          <a:lstStyle/>
          <a:p>
            <a:pPr algn="l"/>
            <a:r>
              <a:rPr sz="1700" b="1">
                <a:solidFill>
                  <a:srgbClr val="0A3769"/>
                </a:solidFill>
                <a:latin typeface="Poppins"/>
              </a:rPr>
              <a:t>Data Integrity</a:t>
            </a:r>
          </a:p>
        </p:txBody>
      </p:sp>
      <p:sp>
        <p:nvSpPr>
          <p:cNvPr id="43" name="TextBox 42"/>
          <p:cNvSpPr txBox="1"/>
          <p:nvPr/>
        </p:nvSpPr>
        <p:spPr>
          <a:xfrm>
            <a:off x="11841480" y="5303520"/>
            <a:ext cx="4709160" cy="960120"/>
          </a:xfrm>
          <a:prstGeom prst="rect">
            <a:avLst/>
          </a:prstGeom>
          <a:noFill/>
        </p:spPr>
        <p:txBody>
          <a:bodyPr wrap="square" lIns="18288" tIns="18288" rIns="18288" bIns="18288">
            <a:spAutoFit/>
          </a:bodyPr>
          <a:lstStyle/>
          <a:p>
            <a:pPr algn="l"/>
            <a:r>
              <a:rPr sz="1500" b="0">
                <a:solidFill>
                  <a:srgbClr val="646E7D"/>
                </a:solidFill>
                <a:latin typeface="Poppins"/>
              </a:rPr>
              <a:t>Keep linked records consistent and reduce duplication.</a:t>
            </a:r>
          </a:p>
        </p:txBody>
      </p:sp>
      <p:sp>
        <p:nvSpPr>
          <p:cNvPr id="44" name="Rectangle 43"/>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82913" y="1080172"/>
            <a:ext cx="4310795" cy="538609"/>
          </a:xfrm>
          <a:prstGeom prst="rect">
            <a:avLst/>
          </a:prstGeom>
          <a:noFill/>
        </p:spPr>
        <p:txBody>
          <a:bodyPr wrap="none" anchor="ctr">
            <a:spAutoFit/>
          </a:bodyPr>
          <a:lstStyle/>
          <a:p>
            <a:pPr algn="ctr"/>
            <a:r>
              <a:rPr sz="2900" b="1" dirty="0">
                <a:solidFill>
                  <a:srgbClr val="0A3769"/>
                </a:solidFill>
                <a:latin typeface="Poppins"/>
              </a:rPr>
              <a:t>Tools &amp; Technologies</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8</a:t>
            </a:r>
          </a:p>
        </p:txBody>
      </p:sp>
      <p:sp>
        <p:nvSpPr>
          <p:cNvPr id="31" name="Rounded Rectangle 30"/>
          <p:cNvSpPr/>
          <p:nvPr/>
        </p:nvSpPr>
        <p:spPr>
          <a:xfrm>
            <a:off x="1143000" y="2651760"/>
            <a:ext cx="5047488" cy="44805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581912" y="3154680"/>
            <a:ext cx="18288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MySQL</a:t>
            </a:r>
          </a:p>
        </p:txBody>
      </p:sp>
      <p:sp>
        <p:nvSpPr>
          <p:cNvPr id="33" name="TextBox 32"/>
          <p:cNvSpPr txBox="1"/>
          <p:nvPr/>
        </p:nvSpPr>
        <p:spPr>
          <a:xfrm>
            <a:off x="1581912" y="3977639"/>
            <a:ext cx="4069080" cy="2148840"/>
          </a:xfrm>
          <a:prstGeom prst="rect">
            <a:avLst/>
          </a:prstGeom>
          <a:noFill/>
        </p:spPr>
        <p:txBody>
          <a:bodyPr wrap="square" lIns="18288" tIns="18288" rIns="18288" bIns="18288">
            <a:spAutoFit/>
          </a:bodyPr>
          <a:lstStyle/>
          <a:p>
            <a:pPr algn="l"/>
            <a:r>
              <a:rPr sz="1700" b="0">
                <a:solidFill>
                  <a:srgbClr val="232D3C"/>
                </a:solidFill>
                <a:latin typeface="Poppins"/>
              </a:rPr>
              <a:t>Relational database implementation, tables, constraints and SQL queries.</a:t>
            </a:r>
          </a:p>
        </p:txBody>
      </p:sp>
      <p:sp>
        <p:nvSpPr>
          <p:cNvPr id="34" name="Rounded Rectangle 33"/>
          <p:cNvSpPr/>
          <p:nvPr/>
        </p:nvSpPr>
        <p:spPr>
          <a:xfrm>
            <a:off x="6620256" y="2651760"/>
            <a:ext cx="5047488" cy="44805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059168" y="3154680"/>
            <a:ext cx="18288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ER Modeling</a:t>
            </a:r>
          </a:p>
        </p:txBody>
      </p:sp>
      <p:sp>
        <p:nvSpPr>
          <p:cNvPr id="36" name="TextBox 35"/>
          <p:cNvSpPr txBox="1"/>
          <p:nvPr/>
        </p:nvSpPr>
        <p:spPr>
          <a:xfrm>
            <a:off x="7059168" y="3977639"/>
            <a:ext cx="4069080" cy="2148840"/>
          </a:xfrm>
          <a:prstGeom prst="rect">
            <a:avLst/>
          </a:prstGeom>
          <a:noFill/>
        </p:spPr>
        <p:txBody>
          <a:bodyPr wrap="square" lIns="18288" tIns="18288" rIns="18288" bIns="18288">
            <a:spAutoFit/>
          </a:bodyPr>
          <a:lstStyle/>
          <a:p>
            <a:pPr algn="l"/>
            <a:r>
              <a:rPr sz="1700" b="0">
                <a:solidFill>
                  <a:srgbClr val="232D3C"/>
                </a:solidFill>
                <a:latin typeface="Poppins"/>
              </a:rPr>
              <a:t>Used to define entities, attributes, keys and relationships.</a:t>
            </a:r>
          </a:p>
        </p:txBody>
      </p:sp>
      <p:sp>
        <p:nvSpPr>
          <p:cNvPr id="37" name="Rounded Rectangle 36"/>
          <p:cNvSpPr/>
          <p:nvPr/>
        </p:nvSpPr>
        <p:spPr>
          <a:xfrm>
            <a:off x="12097512" y="2651760"/>
            <a:ext cx="5047488" cy="44805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2536424" y="3154680"/>
            <a:ext cx="182880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GitHub</a:t>
            </a:r>
          </a:p>
        </p:txBody>
      </p:sp>
      <p:sp>
        <p:nvSpPr>
          <p:cNvPr id="39" name="TextBox 38"/>
          <p:cNvSpPr txBox="1"/>
          <p:nvPr/>
        </p:nvSpPr>
        <p:spPr>
          <a:xfrm>
            <a:off x="12536424" y="3977639"/>
            <a:ext cx="4069080" cy="2148840"/>
          </a:xfrm>
          <a:prstGeom prst="rect">
            <a:avLst/>
          </a:prstGeom>
          <a:noFill/>
        </p:spPr>
        <p:txBody>
          <a:bodyPr wrap="square" lIns="18288" tIns="18288" rIns="18288" bIns="18288">
            <a:spAutoFit/>
          </a:bodyPr>
          <a:lstStyle/>
          <a:p>
            <a:pPr algn="l"/>
            <a:r>
              <a:rPr sz="1700" b="0">
                <a:solidFill>
                  <a:srgbClr val="232D3C"/>
                </a:solidFill>
                <a:latin typeface="Poppins"/>
              </a:rPr>
              <a:t>Repository management, version control and team collaboration.</a:t>
            </a:r>
          </a:p>
        </p:txBody>
      </p:sp>
      <p:sp>
        <p:nvSpPr>
          <p:cNvPr id="40" name="Rectangle 39"/>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29863" y="1039175"/>
            <a:ext cx="4057521" cy="538609"/>
          </a:xfrm>
          <a:prstGeom prst="rect">
            <a:avLst/>
          </a:prstGeom>
          <a:noFill/>
        </p:spPr>
        <p:txBody>
          <a:bodyPr wrap="none" anchor="ctr">
            <a:spAutoFit/>
          </a:bodyPr>
          <a:lstStyle/>
          <a:p>
            <a:pPr algn="ctr"/>
            <a:r>
              <a:rPr sz="2900" b="1" dirty="0">
                <a:solidFill>
                  <a:srgbClr val="0A3769"/>
                </a:solidFill>
                <a:latin typeface="Poppins"/>
              </a:rPr>
              <a:t>Entities &amp; Attributes</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9</a:t>
            </a:r>
          </a:p>
        </p:txBody>
      </p:sp>
      <p:sp>
        <p:nvSpPr>
          <p:cNvPr id="31" name="Rounded Rectangle 30"/>
          <p:cNvSpPr/>
          <p:nvPr/>
        </p:nvSpPr>
        <p:spPr>
          <a:xfrm>
            <a:off x="1143000" y="2423160"/>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99032" y="2624328"/>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Customer</a:t>
            </a:r>
          </a:p>
        </p:txBody>
      </p:sp>
      <p:sp>
        <p:nvSpPr>
          <p:cNvPr id="33" name="TextBox 32"/>
          <p:cNvSpPr txBox="1"/>
          <p:nvPr/>
        </p:nvSpPr>
        <p:spPr>
          <a:xfrm>
            <a:off x="1399032" y="3081528"/>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Customer_ID, Customer_Name, Phone, Email</a:t>
            </a:r>
          </a:p>
        </p:txBody>
      </p:sp>
      <p:sp>
        <p:nvSpPr>
          <p:cNvPr id="34" name="Rounded Rectangle 33"/>
          <p:cNvSpPr/>
          <p:nvPr/>
        </p:nvSpPr>
        <p:spPr>
          <a:xfrm>
            <a:off x="6611112" y="2423160"/>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67144" y="2624328"/>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Account</a:t>
            </a:r>
          </a:p>
        </p:txBody>
      </p:sp>
      <p:sp>
        <p:nvSpPr>
          <p:cNvPr id="36" name="TextBox 35"/>
          <p:cNvSpPr txBox="1"/>
          <p:nvPr/>
        </p:nvSpPr>
        <p:spPr>
          <a:xfrm>
            <a:off x="6867144" y="3081528"/>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Account_ID, Customer_ID, Account_Number, Balance</a:t>
            </a:r>
          </a:p>
        </p:txBody>
      </p:sp>
      <p:sp>
        <p:nvSpPr>
          <p:cNvPr id="37" name="Rounded Rectangle 36"/>
          <p:cNvSpPr/>
          <p:nvPr/>
        </p:nvSpPr>
        <p:spPr>
          <a:xfrm>
            <a:off x="12079224" y="2423160"/>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2335256" y="2624328"/>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Branch</a:t>
            </a:r>
          </a:p>
        </p:txBody>
      </p:sp>
      <p:sp>
        <p:nvSpPr>
          <p:cNvPr id="39" name="TextBox 38"/>
          <p:cNvSpPr txBox="1"/>
          <p:nvPr/>
        </p:nvSpPr>
        <p:spPr>
          <a:xfrm>
            <a:off x="12335256" y="3081528"/>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Branch_ID, Branch_Name, IFSC_Code</a:t>
            </a:r>
          </a:p>
        </p:txBody>
      </p:sp>
      <p:sp>
        <p:nvSpPr>
          <p:cNvPr id="40" name="Rounded Rectangle 39"/>
          <p:cNvSpPr/>
          <p:nvPr/>
        </p:nvSpPr>
        <p:spPr>
          <a:xfrm>
            <a:off x="1143000" y="4297679"/>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99032" y="4498847"/>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Employee</a:t>
            </a:r>
          </a:p>
        </p:txBody>
      </p:sp>
      <p:sp>
        <p:nvSpPr>
          <p:cNvPr id="42" name="TextBox 41"/>
          <p:cNvSpPr txBox="1"/>
          <p:nvPr/>
        </p:nvSpPr>
        <p:spPr>
          <a:xfrm>
            <a:off x="1399032" y="4956047"/>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Employee_ID, Branch_ID, Employee_Name</a:t>
            </a:r>
          </a:p>
        </p:txBody>
      </p:sp>
      <p:sp>
        <p:nvSpPr>
          <p:cNvPr id="43" name="Rounded Rectangle 42"/>
          <p:cNvSpPr/>
          <p:nvPr/>
        </p:nvSpPr>
        <p:spPr>
          <a:xfrm>
            <a:off x="6611112" y="4297679"/>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67144" y="4498847"/>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Transaction</a:t>
            </a:r>
          </a:p>
        </p:txBody>
      </p:sp>
      <p:sp>
        <p:nvSpPr>
          <p:cNvPr id="45" name="TextBox 44"/>
          <p:cNvSpPr txBox="1"/>
          <p:nvPr/>
        </p:nvSpPr>
        <p:spPr>
          <a:xfrm>
            <a:off x="6867144" y="4956047"/>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Transaction_ID, Account_ID, Amount, Transaction_Date</a:t>
            </a:r>
          </a:p>
        </p:txBody>
      </p:sp>
      <p:sp>
        <p:nvSpPr>
          <p:cNvPr id="46" name="Rounded Rectangle 45"/>
          <p:cNvSpPr/>
          <p:nvPr/>
        </p:nvSpPr>
        <p:spPr>
          <a:xfrm>
            <a:off x="12079224" y="4297679"/>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335256" y="4498847"/>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Loan</a:t>
            </a:r>
          </a:p>
        </p:txBody>
      </p:sp>
      <p:sp>
        <p:nvSpPr>
          <p:cNvPr id="48" name="TextBox 47"/>
          <p:cNvSpPr txBox="1"/>
          <p:nvPr/>
        </p:nvSpPr>
        <p:spPr>
          <a:xfrm>
            <a:off x="12335256" y="4956047"/>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Loan_ID, Customer_ID, Loan_Amount, Status</a:t>
            </a:r>
          </a:p>
        </p:txBody>
      </p:sp>
      <p:sp>
        <p:nvSpPr>
          <p:cNvPr id="49" name="Rounded Rectangle 48"/>
          <p:cNvSpPr/>
          <p:nvPr/>
        </p:nvSpPr>
        <p:spPr>
          <a:xfrm>
            <a:off x="1143000" y="6172200"/>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399032" y="6373368"/>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Payment</a:t>
            </a:r>
          </a:p>
        </p:txBody>
      </p:sp>
      <p:sp>
        <p:nvSpPr>
          <p:cNvPr id="51" name="TextBox 50"/>
          <p:cNvSpPr txBox="1"/>
          <p:nvPr/>
        </p:nvSpPr>
        <p:spPr>
          <a:xfrm>
            <a:off x="1399032" y="6830568"/>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Payment_ID, Loan_ID, Amount, Payment_Date</a:t>
            </a:r>
          </a:p>
        </p:txBody>
      </p:sp>
      <p:sp>
        <p:nvSpPr>
          <p:cNvPr id="52" name="Rounded Rectangle 51"/>
          <p:cNvSpPr/>
          <p:nvPr/>
        </p:nvSpPr>
        <p:spPr>
          <a:xfrm>
            <a:off x="6611112" y="6172200"/>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67144" y="6373368"/>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Card</a:t>
            </a:r>
          </a:p>
        </p:txBody>
      </p:sp>
      <p:sp>
        <p:nvSpPr>
          <p:cNvPr id="54" name="TextBox 53"/>
          <p:cNvSpPr txBox="1"/>
          <p:nvPr/>
        </p:nvSpPr>
        <p:spPr>
          <a:xfrm>
            <a:off x="6867144" y="6830568"/>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Card_ID, Account_ID, Card_Number, Status</a:t>
            </a:r>
          </a:p>
        </p:txBody>
      </p:sp>
      <p:sp>
        <p:nvSpPr>
          <p:cNvPr id="55" name="Rounded Rectangle 54"/>
          <p:cNvSpPr/>
          <p:nvPr/>
        </p:nvSpPr>
        <p:spPr>
          <a:xfrm>
            <a:off x="12079224" y="6172200"/>
            <a:ext cx="502920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2335256" y="6373368"/>
            <a:ext cx="1920240" cy="320040"/>
          </a:xfrm>
          <a:prstGeom prst="rect">
            <a:avLst/>
          </a:prstGeom>
          <a:noFill/>
        </p:spPr>
        <p:txBody>
          <a:bodyPr wrap="square" lIns="18288" tIns="18288" rIns="18288" bIns="18288">
            <a:spAutoFit/>
          </a:bodyPr>
          <a:lstStyle/>
          <a:p>
            <a:pPr algn="l"/>
            <a:r>
              <a:rPr sz="1600" b="1">
                <a:solidFill>
                  <a:srgbClr val="0A3769"/>
                </a:solidFill>
                <a:latin typeface="Poppins"/>
              </a:rPr>
              <a:t>Beneficiary</a:t>
            </a:r>
          </a:p>
        </p:txBody>
      </p:sp>
      <p:sp>
        <p:nvSpPr>
          <p:cNvPr id="57" name="TextBox 56"/>
          <p:cNvSpPr txBox="1"/>
          <p:nvPr/>
        </p:nvSpPr>
        <p:spPr>
          <a:xfrm>
            <a:off x="12335256" y="6830568"/>
            <a:ext cx="4434840" cy="548640"/>
          </a:xfrm>
          <a:prstGeom prst="rect">
            <a:avLst/>
          </a:prstGeom>
          <a:noFill/>
        </p:spPr>
        <p:txBody>
          <a:bodyPr wrap="square" lIns="18288" tIns="18288" rIns="18288" bIns="18288">
            <a:spAutoFit/>
          </a:bodyPr>
          <a:lstStyle/>
          <a:p>
            <a:pPr algn="l"/>
            <a:r>
              <a:rPr sz="1300" b="0">
                <a:solidFill>
                  <a:srgbClr val="646E7D"/>
                </a:solidFill>
                <a:latin typeface="Poppins"/>
              </a:rPr>
              <a:t>Beneficiary_ID, Customer_ID, Account_Number</a:t>
            </a:r>
          </a:p>
        </p:txBody>
      </p:sp>
      <p:sp>
        <p:nvSpPr>
          <p:cNvPr id="58" name="TextBox 57"/>
          <p:cNvSpPr txBox="1"/>
          <p:nvPr/>
        </p:nvSpPr>
        <p:spPr>
          <a:xfrm>
            <a:off x="1143000" y="8183879"/>
            <a:ext cx="15819120" cy="457200"/>
          </a:xfrm>
          <a:prstGeom prst="rect">
            <a:avLst/>
          </a:prstGeom>
          <a:noFill/>
        </p:spPr>
        <p:txBody>
          <a:bodyPr wrap="square" lIns="18288" tIns="18288" rIns="18288" bIns="18288">
            <a:spAutoFit/>
          </a:bodyPr>
          <a:lstStyle/>
          <a:p>
            <a:pPr algn="ctr"/>
            <a:r>
              <a:rPr sz="1400" b="1">
                <a:solidFill>
                  <a:srgbClr val="646E7D"/>
                </a:solidFill>
                <a:latin typeface="Poppins"/>
              </a:rPr>
              <a:t>PK = Primary Key  |  FK = Foreign Key</a:t>
            </a:r>
          </a:p>
        </p:txBody>
      </p:sp>
      <p:sp>
        <p:nvSpPr>
          <p:cNvPr id="59" name="Rectangle 58"/>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48521" y="1069848"/>
            <a:ext cx="4761239" cy="477054"/>
          </a:xfrm>
          <a:prstGeom prst="rect">
            <a:avLst/>
          </a:prstGeom>
          <a:noFill/>
        </p:spPr>
        <p:txBody>
          <a:bodyPr wrap="none" anchor="ctr">
            <a:spAutoFit/>
          </a:bodyPr>
          <a:lstStyle/>
          <a:p>
            <a:pPr algn="ctr"/>
            <a:r>
              <a:rPr sz="2500" b="1" dirty="0">
                <a:solidFill>
                  <a:srgbClr val="0A3769"/>
                </a:solidFill>
                <a:latin typeface="Poppins"/>
              </a:rPr>
              <a:t>Relationships &amp; Cardinality</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10</a:t>
            </a:r>
          </a:p>
        </p:txBody>
      </p:sp>
      <p:sp>
        <p:nvSpPr>
          <p:cNvPr id="31" name="Rounded Rectangle 30"/>
          <p:cNvSpPr/>
          <p:nvPr/>
        </p:nvSpPr>
        <p:spPr>
          <a:xfrm>
            <a:off x="1143000" y="2331720"/>
            <a:ext cx="16002000" cy="658368"/>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417320" y="2468879"/>
            <a:ext cx="3749039" cy="320040"/>
          </a:xfrm>
          <a:prstGeom prst="rect">
            <a:avLst/>
          </a:prstGeom>
          <a:noFill/>
        </p:spPr>
        <p:txBody>
          <a:bodyPr wrap="square" lIns="18288" tIns="18288" rIns="18288" bIns="18288">
            <a:spAutoFit/>
          </a:bodyPr>
          <a:lstStyle/>
          <a:p>
            <a:pPr algn="l"/>
            <a:r>
              <a:rPr sz="1500" b="1">
                <a:solidFill>
                  <a:srgbClr val="0A3769"/>
                </a:solidFill>
                <a:latin typeface="Poppins"/>
              </a:rPr>
              <a:t>Customer → Account</a:t>
            </a:r>
          </a:p>
        </p:txBody>
      </p:sp>
      <p:sp>
        <p:nvSpPr>
          <p:cNvPr id="33" name="TextBox 32"/>
          <p:cNvSpPr txBox="1"/>
          <p:nvPr/>
        </p:nvSpPr>
        <p:spPr>
          <a:xfrm>
            <a:off x="5212080" y="2441448"/>
            <a:ext cx="8595360" cy="365760"/>
          </a:xfrm>
          <a:prstGeom prst="rect">
            <a:avLst/>
          </a:prstGeom>
          <a:noFill/>
        </p:spPr>
        <p:txBody>
          <a:bodyPr wrap="square" lIns="18288" tIns="18288" rIns="18288" bIns="18288">
            <a:spAutoFit/>
          </a:bodyPr>
          <a:lstStyle/>
          <a:p>
            <a:pPr algn="l"/>
            <a:r>
              <a:rPr sz="1400" b="0">
                <a:solidFill>
                  <a:srgbClr val="232D3C"/>
                </a:solidFill>
                <a:latin typeface="Poppins"/>
              </a:rPr>
              <a:t>One customer can have multiple accounts.</a:t>
            </a:r>
          </a:p>
        </p:txBody>
      </p:sp>
      <p:sp>
        <p:nvSpPr>
          <p:cNvPr id="34" name="TextBox 33"/>
          <p:cNvSpPr txBox="1"/>
          <p:nvPr/>
        </p:nvSpPr>
        <p:spPr>
          <a:xfrm>
            <a:off x="14721840" y="2441448"/>
            <a:ext cx="1737360" cy="365760"/>
          </a:xfrm>
          <a:prstGeom prst="rect">
            <a:avLst/>
          </a:prstGeom>
          <a:noFill/>
        </p:spPr>
        <p:txBody>
          <a:bodyPr wrap="square" lIns="18288" tIns="18288" rIns="18288" bIns="18288">
            <a:spAutoFit/>
          </a:bodyPr>
          <a:lstStyle/>
          <a:p>
            <a:pPr algn="ctr"/>
            <a:r>
              <a:rPr sz="1500" b="1">
                <a:solidFill>
                  <a:srgbClr val="0F69DC"/>
                </a:solidFill>
                <a:latin typeface="Poppins"/>
              </a:rPr>
              <a:t>1 : M</a:t>
            </a:r>
          </a:p>
        </p:txBody>
      </p:sp>
      <p:sp>
        <p:nvSpPr>
          <p:cNvPr id="35" name="Rounded Rectangle 34"/>
          <p:cNvSpPr/>
          <p:nvPr/>
        </p:nvSpPr>
        <p:spPr>
          <a:xfrm>
            <a:off x="1143000" y="3200400"/>
            <a:ext cx="16002000" cy="658368"/>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17320" y="3337560"/>
            <a:ext cx="3749039" cy="320040"/>
          </a:xfrm>
          <a:prstGeom prst="rect">
            <a:avLst/>
          </a:prstGeom>
          <a:noFill/>
        </p:spPr>
        <p:txBody>
          <a:bodyPr wrap="square" lIns="18288" tIns="18288" rIns="18288" bIns="18288">
            <a:spAutoFit/>
          </a:bodyPr>
          <a:lstStyle/>
          <a:p>
            <a:pPr algn="l"/>
            <a:r>
              <a:rPr sz="1500" b="1">
                <a:solidFill>
                  <a:srgbClr val="0A3769"/>
                </a:solidFill>
                <a:latin typeface="Poppins"/>
              </a:rPr>
              <a:t>Account → Transaction</a:t>
            </a:r>
          </a:p>
        </p:txBody>
      </p:sp>
      <p:sp>
        <p:nvSpPr>
          <p:cNvPr id="37" name="TextBox 36"/>
          <p:cNvSpPr txBox="1"/>
          <p:nvPr/>
        </p:nvSpPr>
        <p:spPr>
          <a:xfrm>
            <a:off x="5212080" y="3310128"/>
            <a:ext cx="8595360" cy="365760"/>
          </a:xfrm>
          <a:prstGeom prst="rect">
            <a:avLst/>
          </a:prstGeom>
          <a:noFill/>
        </p:spPr>
        <p:txBody>
          <a:bodyPr wrap="square" lIns="18288" tIns="18288" rIns="18288" bIns="18288">
            <a:spAutoFit/>
          </a:bodyPr>
          <a:lstStyle/>
          <a:p>
            <a:pPr algn="l"/>
            <a:r>
              <a:rPr sz="1400" b="0">
                <a:solidFill>
                  <a:srgbClr val="232D3C"/>
                </a:solidFill>
                <a:latin typeface="Poppins"/>
              </a:rPr>
              <a:t>An account can have many transactions.</a:t>
            </a:r>
          </a:p>
        </p:txBody>
      </p:sp>
      <p:sp>
        <p:nvSpPr>
          <p:cNvPr id="38" name="TextBox 37"/>
          <p:cNvSpPr txBox="1"/>
          <p:nvPr/>
        </p:nvSpPr>
        <p:spPr>
          <a:xfrm>
            <a:off x="14721840" y="3310128"/>
            <a:ext cx="1737360" cy="365760"/>
          </a:xfrm>
          <a:prstGeom prst="rect">
            <a:avLst/>
          </a:prstGeom>
          <a:noFill/>
        </p:spPr>
        <p:txBody>
          <a:bodyPr wrap="square" lIns="18288" tIns="18288" rIns="18288" bIns="18288">
            <a:spAutoFit/>
          </a:bodyPr>
          <a:lstStyle/>
          <a:p>
            <a:pPr algn="ctr"/>
            <a:r>
              <a:rPr sz="1500" b="1">
                <a:solidFill>
                  <a:srgbClr val="0F69DC"/>
                </a:solidFill>
                <a:latin typeface="Poppins"/>
              </a:rPr>
              <a:t>1 : M</a:t>
            </a:r>
          </a:p>
        </p:txBody>
      </p:sp>
      <p:sp>
        <p:nvSpPr>
          <p:cNvPr id="39" name="Rounded Rectangle 38"/>
          <p:cNvSpPr/>
          <p:nvPr/>
        </p:nvSpPr>
        <p:spPr>
          <a:xfrm>
            <a:off x="1143000" y="4069079"/>
            <a:ext cx="16002000" cy="658368"/>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417320" y="4206240"/>
            <a:ext cx="3749039" cy="320040"/>
          </a:xfrm>
          <a:prstGeom prst="rect">
            <a:avLst/>
          </a:prstGeom>
          <a:noFill/>
        </p:spPr>
        <p:txBody>
          <a:bodyPr wrap="square" lIns="18288" tIns="18288" rIns="18288" bIns="18288">
            <a:spAutoFit/>
          </a:bodyPr>
          <a:lstStyle/>
          <a:p>
            <a:pPr algn="l"/>
            <a:r>
              <a:rPr sz="1500" b="1">
                <a:solidFill>
                  <a:srgbClr val="0A3769"/>
                </a:solidFill>
                <a:latin typeface="Poppins"/>
              </a:rPr>
              <a:t>Branch → Employee</a:t>
            </a:r>
          </a:p>
        </p:txBody>
      </p:sp>
      <p:sp>
        <p:nvSpPr>
          <p:cNvPr id="41" name="TextBox 40"/>
          <p:cNvSpPr txBox="1"/>
          <p:nvPr/>
        </p:nvSpPr>
        <p:spPr>
          <a:xfrm>
            <a:off x="5212080" y="4178807"/>
            <a:ext cx="8595360" cy="365760"/>
          </a:xfrm>
          <a:prstGeom prst="rect">
            <a:avLst/>
          </a:prstGeom>
          <a:noFill/>
        </p:spPr>
        <p:txBody>
          <a:bodyPr wrap="square" lIns="18288" tIns="18288" rIns="18288" bIns="18288">
            <a:spAutoFit/>
          </a:bodyPr>
          <a:lstStyle/>
          <a:p>
            <a:pPr algn="l"/>
            <a:r>
              <a:rPr sz="1400" b="0">
                <a:solidFill>
                  <a:srgbClr val="232D3C"/>
                </a:solidFill>
                <a:latin typeface="Poppins"/>
              </a:rPr>
              <a:t>A branch manages multiple employees.</a:t>
            </a:r>
          </a:p>
        </p:txBody>
      </p:sp>
      <p:sp>
        <p:nvSpPr>
          <p:cNvPr id="42" name="TextBox 41"/>
          <p:cNvSpPr txBox="1"/>
          <p:nvPr/>
        </p:nvSpPr>
        <p:spPr>
          <a:xfrm>
            <a:off x="14721840" y="4178807"/>
            <a:ext cx="1737360" cy="365760"/>
          </a:xfrm>
          <a:prstGeom prst="rect">
            <a:avLst/>
          </a:prstGeom>
          <a:noFill/>
        </p:spPr>
        <p:txBody>
          <a:bodyPr wrap="square" lIns="18288" tIns="18288" rIns="18288" bIns="18288">
            <a:spAutoFit/>
          </a:bodyPr>
          <a:lstStyle/>
          <a:p>
            <a:pPr algn="ctr"/>
            <a:r>
              <a:rPr sz="1500" b="1">
                <a:solidFill>
                  <a:srgbClr val="0F69DC"/>
                </a:solidFill>
                <a:latin typeface="Poppins"/>
              </a:rPr>
              <a:t>1 : M</a:t>
            </a:r>
          </a:p>
        </p:txBody>
      </p:sp>
      <p:sp>
        <p:nvSpPr>
          <p:cNvPr id="43" name="Rounded Rectangle 42"/>
          <p:cNvSpPr/>
          <p:nvPr/>
        </p:nvSpPr>
        <p:spPr>
          <a:xfrm>
            <a:off x="1143000" y="4937759"/>
            <a:ext cx="16002000" cy="658368"/>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417320" y="5074920"/>
            <a:ext cx="3749039" cy="320040"/>
          </a:xfrm>
          <a:prstGeom prst="rect">
            <a:avLst/>
          </a:prstGeom>
          <a:noFill/>
        </p:spPr>
        <p:txBody>
          <a:bodyPr wrap="square" lIns="18288" tIns="18288" rIns="18288" bIns="18288">
            <a:spAutoFit/>
          </a:bodyPr>
          <a:lstStyle/>
          <a:p>
            <a:pPr algn="l"/>
            <a:r>
              <a:rPr sz="1500" b="1">
                <a:solidFill>
                  <a:srgbClr val="0A3769"/>
                </a:solidFill>
                <a:latin typeface="Poppins"/>
              </a:rPr>
              <a:t>Customer → Loan</a:t>
            </a:r>
          </a:p>
        </p:txBody>
      </p:sp>
      <p:sp>
        <p:nvSpPr>
          <p:cNvPr id="45" name="TextBox 44"/>
          <p:cNvSpPr txBox="1"/>
          <p:nvPr/>
        </p:nvSpPr>
        <p:spPr>
          <a:xfrm>
            <a:off x="5212080" y="5047488"/>
            <a:ext cx="8595360" cy="365760"/>
          </a:xfrm>
          <a:prstGeom prst="rect">
            <a:avLst/>
          </a:prstGeom>
          <a:noFill/>
        </p:spPr>
        <p:txBody>
          <a:bodyPr wrap="square" lIns="18288" tIns="18288" rIns="18288" bIns="18288">
            <a:spAutoFit/>
          </a:bodyPr>
          <a:lstStyle/>
          <a:p>
            <a:pPr algn="l"/>
            <a:r>
              <a:rPr sz="1400" b="0">
                <a:solidFill>
                  <a:srgbClr val="232D3C"/>
                </a:solidFill>
                <a:latin typeface="Poppins"/>
              </a:rPr>
              <a:t>A customer may have multiple loans.</a:t>
            </a:r>
          </a:p>
        </p:txBody>
      </p:sp>
      <p:sp>
        <p:nvSpPr>
          <p:cNvPr id="46" name="TextBox 45"/>
          <p:cNvSpPr txBox="1"/>
          <p:nvPr/>
        </p:nvSpPr>
        <p:spPr>
          <a:xfrm>
            <a:off x="14721840" y="5047488"/>
            <a:ext cx="1737360" cy="365760"/>
          </a:xfrm>
          <a:prstGeom prst="rect">
            <a:avLst/>
          </a:prstGeom>
          <a:noFill/>
        </p:spPr>
        <p:txBody>
          <a:bodyPr wrap="square" lIns="18288" tIns="18288" rIns="18288" bIns="18288">
            <a:spAutoFit/>
          </a:bodyPr>
          <a:lstStyle/>
          <a:p>
            <a:pPr algn="ctr"/>
            <a:r>
              <a:rPr sz="1500" b="1">
                <a:solidFill>
                  <a:srgbClr val="0F69DC"/>
                </a:solidFill>
                <a:latin typeface="Poppins"/>
              </a:rPr>
              <a:t>1 : M</a:t>
            </a:r>
          </a:p>
        </p:txBody>
      </p:sp>
      <p:sp>
        <p:nvSpPr>
          <p:cNvPr id="47" name="Rounded Rectangle 46"/>
          <p:cNvSpPr/>
          <p:nvPr/>
        </p:nvSpPr>
        <p:spPr>
          <a:xfrm>
            <a:off x="1143000" y="5806440"/>
            <a:ext cx="16002000" cy="658368"/>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417320" y="5943600"/>
            <a:ext cx="3749039" cy="320040"/>
          </a:xfrm>
          <a:prstGeom prst="rect">
            <a:avLst/>
          </a:prstGeom>
          <a:noFill/>
        </p:spPr>
        <p:txBody>
          <a:bodyPr wrap="square" lIns="18288" tIns="18288" rIns="18288" bIns="18288">
            <a:spAutoFit/>
          </a:bodyPr>
          <a:lstStyle/>
          <a:p>
            <a:pPr algn="l"/>
            <a:r>
              <a:rPr sz="1500" b="1">
                <a:solidFill>
                  <a:srgbClr val="0A3769"/>
                </a:solidFill>
                <a:latin typeface="Poppins"/>
              </a:rPr>
              <a:t>Loan → Payment</a:t>
            </a:r>
          </a:p>
        </p:txBody>
      </p:sp>
      <p:sp>
        <p:nvSpPr>
          <p:cNvPr id="49" name="TextBox 48"/>
          <p:cNvSpPr txBox="1"/>
          <p:nvPr/>
        </p:nvSpPr>
        <p:spPr>
          <a:xfrm>
            <a:off x="5212080" y="5916168"/>
            <a:ext cx="8595360" cy="365760"/>
          </a:xfrm>
          <a:prstGeom prst="rect">
            <a:avLst/>
          </a:prstGeom>
          <a:noFill/>
        </p:spPr>
        <p:txBody>
          <a:bodyPr wrap="square" lIns="18288" tIns="18288" rIns="18288" bIns="18288">
            <a:spAutoFit/>
          </a:bodyPr>
          <a:lstStyle/>
          <a:p>
            <a:pPr algn="l"/>
            <a:r>
              <a:rPr sz="1400" b="0">
                <a:solidFill>
                  <a:srgbClr val="232D3C"/>
                </a:solidFill>
                <a:latin typeface="Poppins"/>
              </a:rPr>
              <a:t>A loan can have multiple payments.</a:t>
            </a:r>
          </a:p>
        </p:txBody>
      </p:sp>
      <p:sp>
        <p:nvSpPr>
          <p:cNvPr id="50" name="TextBox 49"/>
          <p:cNvSpPr txBox="1"/>
          <p:nvPr/>
        </p:nvSpPr>
        <p:spPr>
          <a:xfrm>
            <a:off x="14721840" y="5916168"/>
            <a:ext cx="1737360" cy="365760"/>
          </a:xfrm>
          <a:prstGeom prst="rect">
            <a:avLst/>
          </a:prstGeom>
          <a:noFill/>
        </p:spPr>
        <p:txBody>
          <a:bodyPr wrap="square" lIns="18288" tIns="18288" rIns="18288" bIns="18288">
            <a:spAutoFit/>
          </a:bodyPr>
          <a:lstStyle/>
          <a:p>
            <a:pPr algn="ctr"/>
            <a:r>
              <a:rPr sz="1500" b="1">
                <a:solidFill>
                  <a:srgbClr val="0F69DC"/>
                </a:solidFill>
                <a:latin typeface="Poppins"/>
              </a:rPr>
              <a:t>1 : M</a:t>
            </a:r>
          </a:p>
        </p:txBody>
      </p:sp>
      <p:sp>
        <p:nvSpPr>
          <p:cNvPr id="51" name="Rounded Rectangle 50"/>
          <p:cNvSpPr/>
          <p:nvPr/>
        </p:nvSpPr>
        <p:spPr>
          <a:xfrm>
            <a:off x="1143000" y="6675120"/>
            <a:ext cx="16002000" cy="658368"/>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417320" y="6812280"/>
            <a:ext cx="3749039" cy="320040"/>
          </a:xfrm>
          <a:prstGeom prst="rect">
            <a:avLst/>
          </a:prstGeom>
          <a:noFill/>
        </p:spPr>
        <p:txBody>
          <a:bodyPr wrap="square" lIns="18288" tIns="18288" rIns="18288" bIns="18288">
            <a:spAutoFit/>
          </a:bodyPr>
          <a:lstStyle/>
          <a:p>
            <a:pPr algn="l"/>
            <a:r>
              <a:rPr sz="1500" b="1">
                <a:solidFill>
                  <a:srgbClr val="0A3769"/>
                </a:solidFill>
                <a:latin typeface="Poppins"/>
              </a:rPr>
              <a:t>Customer → Beneficiary</a:t>
            </a:r>
          </a:p>
        </p:txBody>
      </p:sp>
      <p:sp>
        <p:nvSpPr>
          <p:cNvPr id="53" name="TextBox 52"/>
          <p:cNvSpPr txBox="1"/>
          <p:nvPr/>
        </p:nvSpPr>
        <p:spPr>
          <a:xfrm>
            <a:off x="5212080" y="6784848"/>
            <a:ext cx="8595360" cy="365760"/>
          </a:xfrm>
          <a:prstGeom prst="rect">
            <a:avLst/>
          </a:prstGeom>
          <a:noFill/>
        </p:spPr>
        <p:txBody>
          <a:bodyPr wrap="square" lIns="18288" tIns="18288" rIns="18288" bIns="18288">
            <a:spAutoFit/>
          </a:bodyPr>
          <a:lstStyle/>
          <a:p>
            <a:pPr algn="l"/>
            <a:r>
              <a:rPr sz="1400" b="0">
                <a:solidFill>
                  <a:srgbClr val="232D3C"/>
                </a:solidFill>
                <a:latin typeface="Poppins"/>
              </a:rPr>
              <a:t>A customer can register multiple beneficiaries.</a:t>
            </a:r>
          </a:p>
        </p:txBody>
      </p:sp>
      <p:sp>
        <p:nvSpPr>
          <p:cNvPr id="54" name="TextBox 53"/>
          <p:cNvSpPr txBox="1"/>
          <p:nvPr/>
        </p:nvSpPr>
        <p:spPr>
          <a:xfrm>
            <a:off x="14721840" y="6784848"/>
            <a:ext cx="1737360" cy="365760"/>
          </a:xfrm>
          <a:prstGeom prst="rect">
            <a:avLst/>
          </a:prstGeom>
          <a:noFill/>
        </p:spPr>
        <p:txBody>
          <a:bodyPr wrap="square" lIns="18288" tIns="18288" rIns="18288" bIns="18288">
            <a:spAutoFit/>
          </a:bodyPr>
          <a:lstStyle/>
          <a:p>
            <a:pPr algn="ctr"/>
            <a:r>
              <a:rPr sz="1500" b="1">
                <a:solidFill>
                  <a:srgbClr val="0F69DC"/>
                </a:solidFill>
                <a:latin typeface="Poppins"/>
              </a:rPr>
              <a:t>1 : M</a:t>
            </a:r>
          </a:p>
        </p:txBody>
      </p:sp>
      <p:sp>
        <p:nvSpPr>
          <p:cNvPr id="55" name="Rectangle 54"/>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17720" y="850392"/>
            <a:ext cx="2557111" cy="538609"/>
          </a:xfrm>
          <a:prstGeom prst="rect">
            <a:avLst/>
          </a:prstGeom>
          <a:noFill/>
        </p:spPr>
        <p:txBody>
          <a:bodyPr wrap="none" anchor="ctr">
            <a:spAutoFit/>
          </a:bodyPr>
          <a:lstStyle/>
          <a:p>
            <a:pPr algn="ctr"/>
            <a:r>
              <a:rPr sz="2900" b="1" dirty="0">
                <a:solidFill>
                  <a:srgbClr val="0A3769"/>
                </a:solidFill>
                <a:latin typeface="Poppins"/>
              </a:rPr>
              <a:t>ER</a:t>
            </a:r>
            <a:r>
              <a:rPr lang="en-US" sz="2900" b="1" dirty="0">
                <a:solidFill>
                  <a:srgbClr val="0A3769"/>
                </a:solidFill>
                <a:latin typeface="Poppins"/>
              </a:rPr>
              <a:t> </a:t>
            </a:r>
            <a:r>
              <a:rPr sz="2900" b="1" dirty="0">
                <a:solidFill>
                  <a:srgbClr val="0A3769"/>
                </a:solidFill>
                <a:latin typeface="Poppins"/>
              </a:rPr>
              <a:t> Diagram</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11</a:t>
            </a:r>
          </a:p>
        </p:txBody>
      </p:sp>
      <p:sp>
        <p:nvSpPr>
          <p:cNvPr id="31" name="Rectangle 30"/>
          <p:cNvSpPr/>
          <p:nvPr/>
        </p:nvSpPr>
        <p:spPr>
          <a:xfrm>
            <a:off x="914399" y="2240279"/>
            <a:ext cx="16916401" cy="7452360"/>
          </a:xfrm>
          <a:prstGeom prst="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aditya_logo_small.png"/>
          <p:cNvPicPr>
            <a:picLocks noChangeAspect="1"/>
          </p:cNvPicPr>
          <p:nvPr/>
        </p:nvPicPr>
        <p:blipFill>
          <a:blip r:embed="rId2"/>
          <a:stretch>
            <a:fillRect/>
          </a:stretch>
        </p:blipFill>
        <p:spPr>
          <a:xfrm>
            <a:off x="320040" y="301752"/>
            <a:ext cx="2715768" cy="1069848"/>
          </a:xfrm>
          <a:prstGeom prst="rect">
            <a:avLst/>
          </a:prstGeom>
        </p:spPr>
      </p:pic>
      <p:pic>
        <p:nvPicPr>
          <p:cNvPr id="5" name="Picture 4">
            <a:extLst>
              <a:ext uri="{FF2B5EF4-FFF2-40B4-BE49-F238E27FC236}">
                <a16:creationId xmlns:a16="http://schemas.microsoft.com/office/drawing/2014/main" id="{9550E255-121E-232E-A4FD-6D01639767E9}"/>
              </a:ext>
            </a:extLst>
          </p:cNvPr>
          <p:cNvPicPr>
            <a:picLocks noChangeAspect="1"/>
          </p:cNvPicPr>
          <p:nvPr/>
        </p:nvPicPr>
        <p:blipFill>
          <a:blip r:embed="rId3"/>
          <a:srcRect/>
          <a:stretch>
            <a:fillRect/>
          </a:stretch>
        </p:blipFill>
        <p:spPr>
          <a:xfrm>
            <a:off x="914399" y="2177283"/>
            <a:ext cx="16916401" cy="75153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0096D3-EB39-A8F5-211D-DDCCF5CAA066}"/>
              </a:ext>
            </a:extLst>
          </p:cNvPr>
          <p:cNvSpPr txBox="1"/>
          <p:nvPr/>
        </p:nvSpPr>
        <p:spPr>
          <a:xfrm>
            <a:off x="707924" y="215105"/>
            <a:ext cx="16075742" cy="10218182"/>
          </a:xfrm>
          <a:prstGeom prst="rect">
            <a:avLst/>
          </a:prstGeom>
          <a:noFill/>
        </p:spPr>
        <p:txBody>
          <a:bodyPr wrap="square" rtlCol="0">
            <a:spAutoFit/>
          </a:bodyPr>
          <a:lstStyle/>
          <a:p>
            <a:r>
              <a:rPr lang="en-IN" sz="3200" b="1" dirty="0"/>
              <a:t>GitHub Repository</a:t>
            </a:r>
          </a:p>
          <a:p>
            <a:endParaRPr lang="en-IN" sz="3200" b="1" dirty="0"/>
          </a:p>
          <a:p>
            <a:r>
              <a:rPr lang="en-IN" sz="3200" b="1" dirty="0"/>
              <a:t>Bank Account Management System</a:t>
            </a:r>
          </a:p>
          <a:p>
            <a:endParaRPr lang="en-IN" sz="3200" b="1" dirty="0"/>
          </a:p>
          <a:p>
            <a:r>
              <a:rPr lang="en-IN" sz="3200" b="1" dirty="0"/>
              <a:t>GitHub Repository:</a:t>
            </a:r>
            <a:br>
              <a:rPr lang="en-IN" sz="3200" dirty="0"/>
            </a:br>
            <a:r>
              <a:rPr lang="en-IN" sz="3200" dirty="0">
                <a:hlinkClick r:id="rId2"/>
              </a:rPr>
              <a:t>https://github.com/chandandas27/Bank-Management-System</a:t>
            </a:r>
            <a:endParaRPr lang="en-IN" sz="3200" dirty="0"/>
          </a:p>
          <a:p>
            <a:endParaRPr lang="en-IN" sz="3200" dirty="0"/>
          </a:p>
          <a:p>
            <a:r>
              <a:rPr lang="en-IN" sz="3200" b="1" dirty="0"/>
              <a:t>Repository Contents:</a:t>
            </a:r>
            <a:endParaRPr lang="en-IN" sz="3200" dirty="0"/>
          </a:p>
          <a:p>
            <a:pPr lvl="0"/>
            <a:r>
              <a:rPr lang="en-IN" sz="3200" dirty="0"/>
              <a:t>JavaFX-based banking application</a:t>
            </a:r>
          </a:p>
          <a:p>
            <a:pPr lvl="0"/>
            <a:r>
              <a:rPr lang="en-IN" sz="3200" dirty="0"/>
              <a:t>MySQL database</a:t>
            </a:r>
          </a:p>
          <a:p>
            <a:pPr lvl="0"/>
            <a:r>
              <a:rPr lang="en-IN" sz="3200" dirty="0"/>
              <a:t>ER Diagram</a:t>
            </a:r>
          </a:p>
          <a:p>
            <a:pPr lvl="0"/>
            <a:r>
              <a:rPr lang="en-IN" sz="3200" dirty="0"/>
              <a:t>SQL database file</a:t>
            </a:r>
          </a:p>
          <a:p>
            <a:pPr lvl="0"/>
            <a:r>
              <a:rPr lang="en-IN" sz="3200" dirty="0"/>
              <a:t>Customer &amp; account management</a:t>
            </a:r>
          </a:p>
          <a:p>
            <a:pPr lvl="0"/>
            <a:r>
              <a:rPr lang="en-IN" sz="3200" dirty="0"/>
              <a:t>Transaction management</a:t>
            </a:r>
          </a:p>
          <a:p>
            <a:pPr lvl="0"/>
            <a:r>
              <a:rPr lang="en-IN" sz="3200" dirty="0"/>
              <a:t>Banking services</a:t>
            </a:r>
          </a:p>
          <a:p>
            <a:pPr lvl="0"/>
            <a:r>
              <a:rPr lang="en-IN" sz="3200" dirty="0"/>
              <a:t>Branch &amp; employee management</a:t>
            </a:r>
          </a:p>
          <a:p>
            <a:r>
              <a:rPr lang="en-IN" sz="3200" b="1" dirty="0"/>
              <a:t>Technologies</a:t>
            </a:r>
          </a:p>
          <a:p>
            <a:r>
              <a:rPr lang="en-IN" sz="3200" b="1" dirty="0"/>
              <a:t>JavaFX | MySQL | NetBeans | SQL | ER </a:t>
            </a:r>
            <a:r>
              <a:rPr lang="en-IN" sz="3200" b="1" dirty="0" err="1"/>
              <a:t>Modeling</a:t>
            </a:r>
            <a:endParaRPr lang="en-IN" sz="3200" dirty="0"/>
          </a:p>
          <a:p>
            <a:r>
              <a:rPr lang="en-IN" sz="3200" b="1" dirty="0"/>
              <a:t>Repository:</a:t>
            </a:r>
            <a:br>
              <a:rPr lang="en-IN" sz="3200" dirty="0"/>
            </a:br>
            <a:r>
              <a:rPr lang="en-IN" sz="3200" dirty="0">
                <a:hlinkClick r:id="rId3"/>
              </a:rPr>
              <a:t>View GitHub Repository</a:t>
            </a:r>
            <a:endParaRPr lang="en-IN" sz="3200" dirty="0"/>
          </a:p>
          <a:p>
            <a:endParaRPr lang="en-IN" dirty="0"/>
          </a:p>
        </p:txBody>
      </p:sp>
    </p:spTree>
    <p:extLst>
      <p:ext uri="{BB962C8B-B14F-4D97-AF65-F5344CB8AC3E}">
        <p14:creationId xmlns:p14="http://schemas.microsoft.com/office/powerpoint/2010/main" val="4097156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07131" y="1038287"/>
            <a:ext cx="3865161" cy="538609"/>
          </a:xfrm>
          <a:prstGeom prst="rect">
            <a:avLst/>
          </a:prstGeom>
          <a:noFill/>
        </p:spPr>
        <p:txBody>
          <a:bodyPr wrap="none" anchor="ctr">
            <a:spAutoFit/>
          </a:bodyPr>
          <a:lstStyle/>
          <a:p>
            <a:pPr algn="ctr"/>
            <a:r>
              <a:rPr sz="2900" b="1" dirty="0">
                <a:solidFill>
                  <a:srgbClr val="0A3769"/>
                </a:solidFill>
                <a:latin typeface="Poppins"/>
              </a:rPr>
              <a:t>Relational Schema</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12</a:t>
            </a:r>
          </a:p>
        </p:txBody>
      </p:sp>
      <p:sp>
        <p:nvSpPr>
          <p:cNvPr id="31" name="Rounded Rectangle 30"/>
          <p:cNvSpPr/>
          <p:nvPr/>
        </p:nvSpPr>
        <p:spPr>
          <a:xfrm>
            <a:off x="1143000" y="224028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71600" y="240487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CUSTOMERS</a:t>
            </a:r>
          </a:p>
        </p:txBody>
      </p:sp>
      <p:sp>
        <p:nvSpPr>
          <p:cNvPr id="33" name="TextBox 32"/>
          <p:cNvSpPr txBox="1"/>
          <p:nvPr/>
        </p:nvSpPr>
        <p:spPr>
          <a:xfrm>
            <a:off x="1371600" y="281635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Customer_ID (PK)
Customer_Name
Phone
Email
KYC_Status</a:t>
            </a:r>
          </a:p>
        </p:txBody>
      </p:sp>
      <p:sp>
        <p:nvSpPr>
          <p:cNvPr id="34" name="Rounded Rectangle 33"/>
          <p:cNvSpPr/>
          <p:nvPr/>
        </p:nvSpPr>
        <p:spPr>
          <a:xfrm>
            <a:off x="6611112" y="224028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39712" y="240487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ACCOUNTS</a:t>
            </a:r>
          </a:p>
        </p:txBody>
      </p:sp>
      <p:sp>
        <p:nvSpPr>
          <p:cNvPr id="36" name="TextBox 35"/>
          <p:cNvSpPr txBox="1"/>
          <p:nvPr/>
        </p:nvSpPr>
        <p:spPr>
          <a:xfrm>
            <a:off x="6839712" y="281635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Account_ID (PK)
Customer_ID (FK)
Branch_ID (FK)
Account_Number
Balance</a:t>
            </a:r>
          </a:p>
        </p:txBody>
      </p:sp>
      <p:sp>
        <p:nvSpPr>
          <p:cNvPr id="37" name="Rounded Rectangle 36"/>
          <p:cNvSpPr/>
          <p:nvPr/>
        </p:nvSpPr>
        <p:spPr>
          <a:xfrm>
            <a:off x="12079224" y="224028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2307824" y="240487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BRANCHES</a:t>
            </a:r>
          </a:p>
        </p:txBody>
      </p:sp>
      <p:sp>
        <p:nvSpPr>
          <p:cNvPr id="39" name="TextBox 38"/>
          <p:cNvSpPr txBox="1"/>
          <p:nvPr/>
        </p:nvSpPr>
        <p:spPr>
          <a:xfrm>
            <a:off x="12307824" y="281635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Branch_ID (PK)
Branch_Name
IFSC_Code
City</a:t>
            </a:r>
          </a:p>
        </p:txBody>
      </p:sp>
      <p:sp>
        <p:nvSpPr>
          <p:cNvPr id="40" name="Rounded Rectangle 39"/>
          <p:cNvSpPr/>
          <p:nvPr/>
        </p:nvSpPr>
        <p:spPr>
          <a:xfrm>
            <a:off x="1143000" y="434340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450799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TRANSACTIONS</a:t>
            </a:r>
          </a:p>
        </p:txBody>
      </p:sp>
      <p:sp>
        <p:nvSpPr>
          <p:cNvPr id="42" name="TextBox 41"/>
          <p:cNvSpPr txBox="1"/>
          <p:nvPr/>
        </p:nvSpPr>
        <p:spPr>
          <a:xfrm>
            <a:off x="1371600" y="491947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Transaction_ID (PK)
Account_ID (FK)
Transaction_Date
Amount</a:t>
            </a:r>
          </a:p>
        </p:txBody>
      </p:sp>
      <p:sp>
        <p:nvSpPr>
          <p:cNvPr id="43" name="Rounded Rectangle 42"/>
          <p:cNvSpPr/>
          <p:nvPr/>
        </p:nvSpPr>
        <p:spPr>
          <a:xfrm>
            <a:off x="6611112" y="434340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39712" y="450799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LOANS</a:t>
            </a:r>
          </a:p>
        </p:txBody>
      </p:sp>
      <p:sp>
        <p:nvSpPr>
          <p:cNvPr id="45" name="TextBox 44"/>
          <p:cNvSpPr txBox="1"/>
          <p:nvPr/>
        </p:nvSpPr>
        <p:spPr>
          <a:xfrm>
            <a:off x="6839712" y="491947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Loan_ID (PK)
Customer_ID (FK)
Loan_Amount
Interest_Rate
Status</a:t>
            </a:r>
          </a:p>
        </p:txBody>
      </p:sp>
      <p:sp>
        <p:nvSpPr>
          <p:cNvPr id="46" name="Rounded Rectangle 45"/>
          <p:cNvSpPr/>
          <p:nvPr/>
        </p:nvSpPr>
        <p:spPr>
          <a:xfrm>
            <a:off x="12079224" y="434340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307824" y="450799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PAYMENTS</a:t>
            </a:r>
          </a:p>
        </p:txBody>
      </p:sp>
      <p:sp>
        <p:nvSpPr>
          <p:cNvPr id="48" name="TextBox 47"/>
          <p:cNvSpPr txBox="1"/>
          <p:nvPr/>
        </p:nvSpPr>
        <p:spPr>
          <a:xfrm>
            <a:off x="12307824" y="491947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Payment_ID (PK)
Loan_ID (FK)
Payment_Date
Amount</a:t>
            </a:r>
          </a:p>
        </p:txBody>
      </p:sp>
      <p:sp>
        <p:nvSpPr>
          <p:cNvPr id="49" name="Rounded Rectangle 48"/>
          <p:cNvSpPr/>
          <p:nvPr/>
        </p:nvSpPr>
        <p:spPr>
          <a:xfrm>
            <a:off x="1143000" y="644652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371600" y="661111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CARDS</a:t>
            </a:r>
          </a:p>
        </p:txBody>
      </p:sp>
      <p:sp>
        <p:nvSpPr>
          <p:cNvPr id="51" name="TextBox 50"/>
          <p:cNvSpPr txBox="1"/>
          <p:nvPr/>
        </p:nvSpPr>
        <p:spPr>
          <a:xfrm>
            <a:off x="1371600" y="702259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Card_ID (PK)
Account_ID (FK)
Card_Number
Card_Type
Status</a:t>
            </a:r>
          </a:p>
        </p:txBody>
      </p:sp>
      <p:sp>
        <p:nvSpPr>
          <p:cNvPr id="52" name="Rounded Rectangle 51"/>
          <p:cNvSpPr/>
          <p:nvPr/>
        </p:nvSpPr>
        <p:spPr>
          <a:xfrm>
            <a:off x="6611112" y="644652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39712" y="661111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BENEFICIARIES</a:t>
            </a:r>
          </a:p>
        </p:txBody>
      </p:sp>
      <p:sp>
        <p:nvSpPr>
          <p:cNvPr id="54" name="TextBox 53"/>
          <p:cNvSpPr txBox="1"/>
          <p:nvPr/>
        </p:nvSpPr>
        <p:spPr>
          <a:xfrm>
            <a:off x="6839712" y="702259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Beneficiary_ID (PK)
Customer_ID (FK)
Account_Number
IFSC_Code</a:t>
            </a:r>
          </a:p>
        </p:txBody>
      </p:sp>
      <p:sp>
        <p:nvSpPr>
          <p:cNvPr id="55" name="Rounded Rectangle 54"/>
          <p:cNvSpPr/>
          <p:nvPr/>
        </p:nvSpPr>
        <p:spPr>
          <a:xfrm>
            <a:off x="12079224" y="6446520"/>
            <a:ext cx="5029200" cy="17373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2307824" y="6611112"/>
            <a:ext cx="4572000" cy="320040"/>
          </a:xfrm>
          <a:prstGeom prst="rect">
            <a:avLst/>
          </a:prstGeom>
          <a:noFill/>
        </p:spPr>
        <p:txBody>
          <a:bodyPr wrap="square" lIns="18288" tIns="18288" rIns="18288" bIns="18288">
            <a:spAutoFit/>
          </a:bodyPr>
          <a:lstStyle/>
          <a:p>
            <a:pPr algn="l"/>
            <a:r>
              <a:rPr sz="1400" b="1">
                <a:solidFill>
                  <a:srgbClr val="0A3769"/>
                </a:solidFill>
                <a:latin typeface="Poppins"/>
              </a:rPr>
              <a:t>EMPLOYEES</a:t>
            </a:r>
          </a:p>
        </p:txBody>
      </p:sp>
      <p:sp>
        <p:nvSpPr>
          <p:cNvPr id="57" name="TextBox 56"/>
          <p:cNvSpPr txBox="1"/>
          <p:nvPr/>
        </p:nvSpPr>
        <p:spPr>
          <a:xfrm>
            <a:off x="12307824" y="7022592"/>
            <a:ext cx="4572000" cy="960120"/>
          </a:xfrm>
          <a:prstGeom prst="rect">
            <a:avLst/>
          </a:prstGeom>
          <a:noFill/>
        </p:spPr>
        <p:txBody>
          <a:bodyPr wrap="square" lIns="18288" tIns="18288" rIns="18288" bIns="18288">
            <a:spAutoFit/>
          </a:bodyPr>
          <a:lstStyle/>
          <a:p>
            <a:pPr algn="l"/>
            <a:r>
              <a:rPr sz="1200" b="0">
                <a:solidFill>
                  <a:srgbClr val="232D3C"/>
                </a:solidFill>
                <a:latin typeface="Poppins"/>
              </a:rPr>
              <a:t>Employee_ID (PK)
Branch_ID (FK)
Employee_Name
Designation</a:t>
            </a:r>
          </a:p>
        </p:txBody>
      </p:sp>
      <p:sp>
        <p:nvSpPr>
          <p:cNvPr id="58" name="Rectangle 57"/>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89225" y="1038287"/>
            <a:ext cx="3879588" cy="538609"/>
          </a:xfrm>
          <a:prstGeom prst="rect">
            <a:avLst/>
          </a:prstGeom>
          <a:noFill/>
        </p:spPr>
        <p:txBody>
          <a:bodyPr wrap="none" anchor="ctr">
            <a:spAutoFit/>
          </a:bodyPr>
          <a:lstStyle/>
          <a:p>
            <a:pPr algn="ctr"/>
            <a:r>
              <a:rPr sz="2900" b="1" dirty="0">
                <a:solidFill>
                  <a:srgbClr val="0A3769"/>
                </a:solidFill>
                <a:latin typeface="Poppins"/>
              </a:rPr>
              <a:t>Expected Outcome</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13</a:t>
            </a:r>
          </a:p>
        </p:txBody>
      </p:sp>
      <p:sp>
        <p:nvSpPr>
          <p:cNvPr id="31" name="TextBox 30"/>
          <p:cNvSpPr txBox="1"/>
          <p:nvPr/>
        </p:nvSpPr>
        <p:spPr>
          <a:xfrm>
            <a:off x="1143000" y="2148840"/>
            <a:ext cx="15910559" cy="502920"/>
          </a:xfrm>
          <a:prstGeom prst="rect">
            <a:avLst/>
          </a:prstGeom>
          <a:noFill/>
        </p:spPr>
        <p:txBody>
          <a:bodyPr wrap="square" lIns="18288" tIns="18288" rIns="18288" bIns="18288">
            <a:spAutoFit/>
          </a:bodyPr>
          <a:lstStyle/>
          <a:p>
            <a:pPr algn="l"/>
            <a:r>
              <a:rPr sz="2100" b="1">
                <a:solidFill>
                  <a:srgbClr val="0A3769"/>
                </a:solidFill>
                <a:latin typeface="Poppins"/>
              </a:rPr>
              <a:t>Expected result of the database model</a:t>
            </a:r>
          </a:p>
        </p:txBody>
      </p:sp>
      <p:sp>
        <p:nvSpPr>
          <p:cNvPr id="32" name="TextBox 31"/>
          <p:cNvSpPr txBox="1"/>
          <p:nvPr/>
        </p:nvSpPr>
        <p:spPr>
          <a:xfrm>
            <a:off x="1234440" y="2971800"/>
            <a:ext cx="7315200" cy="4389120"/>
          </a:xfrm>
          <a:prstGeom prst="rect">
            <a:avLst/>
          </a:prstGeom>
          <a:noFill/>
        </p:spPr>
        <p:txBody>
          <a:bodyPr wrap="square" lIns="45720" rIns="45720">
            <a:spAutoFit/>
          </a:bodyPr>
          <a:lstStyle/>
          <a:p>
            <a:pPr>
              <a:spcAft>
                <a:spcPts val="900"/>
              </a:spcAft>
              <a:defRPr sz="1700">
                <a:solidFill>
                  <a:srgbClr val="232D3C"/>
                </a:solidFill>
                <a:latin typeface="Poppins"/>
              </a:defRPr>
            </a:pPr>
            <a:r>
              <a:t>• Centralized storage of core banking records.</a:t>
            </a:r>
          </a:p>
          <a:p>
            <a:pPr>
              <a:spcAft>
                <a:spcPts val="900"/>
              </a:spcAft>
              <a:defRPr sz="1700">
                <a:solidFill>
                  <a:srgbClr val="232D3C"/>
                </a:solidFill>
                <a:latin typeface="Poppins"/>
              </a:defRPr>
            </a:pPr>
            <a:r>
              <a:t>• Consistent relationships between customers, accounts and related entities.</a:t>
            </a:r>
          </a:p>
          <a:p>
            <a:pPr>
              <a:spcAft>
                <a:spcPts val="900"/>
              </a:spcAft>
              <a:defRPr sz="1700">
                <a:solidFill>
                  <a:srgbClr val="232D3C"/>
                </a:solidFill>
                <a:latin typeface="Poppins"/>
              </a:defRPr>
            </a:pPr>
            <a:r>
              <a:t>• Clear tracking of transactions, loans and payments.</a:t>
            </a:r>
          </a:p>
          <a:p>
            <a:pPr>
              <a:spcAft>
                <a:spcPts val="900"/>
              </a:spcAft>
              <a:defRPr sz="1700">
                <a:solidFill>
                  <a:srgbClr val="232D3C"/>
                </a:solidFill>
                <a:latin typeface="Poppins"/>
              </a:defRPr>
            </a:pPr>
            <a:r>
              <a:t>• Structured access to branch, employee, card and beneficiary information.</a:t>
            </a:r>
          </a:p>
        </p:txBody>
      </p:sp>
      <p:sp>
        <p:nvSpPr>
          <p:cNvPr id="33" name="Rounded Rectangle 32"/>
          <p:cNvSpPr/>
          <p:nvPr/>
        </p:nvSpPr>
        <p:spPr>
          <a:xfrm>
            <a:off x="9235440" y="2834640"/>
            <a:ext cx="7909560" cy="4526280"/>
          </a:xfrm>
          <a:prstGeom prst="roundRect">
            <a:avLst/>
          </a:prstGeom>
          <a:solidFill>
            <a:srgbClr val="FFFFFF"/>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738360" y="3291840"/>
            <a:ext cx="2377440" cy="411480"/>
          </a:xfrm>
          <a:prstGeom prst="round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Poppins"/>
              </a:rPr>
              <a:t>DATABASE VALUE</a:t>
            </a:r>
          </a:p>
        </p:txBody>
      </p:sp>
      <p:sp>
        <p:nvSpPr>
          <p:cNvPr id="35" name="TextBox 34"/>
          <p:cNvSpPr txBox="1"/>
          <p:nvPr/>
        </p:nvSpPr>
        <p:spPr>
          <a:xfrm>
            <a:off x="9738360" y="4069080"/>
            <a:ext cx="6812280" cy="2560320"/>
          </a:xfrm>
          <a:prstGeom prst="rect">
            <a:avLst/>
          </a:prstGeom>
          <a:noFill/>
        </p:spPr>
        <p:txBody>
          <a:bodyPr wrap="square" lIns="18288" tIns="18288" rIns="18288" bIns="18288">
            <a:spAutoFit/>
          </a:bodyPr>
          <a:lstStyle/>
          <a:p>
            <a:pPr algn="ctr"/>
            <a:r>
              <a:rPr sz="1900" b="1">
                <a:solidFill>
                  <a:srgbClr val="0A3769"/>
                </a:solidFill>
                <a:latin typeface="Poppins"/>
              </a:rPr>
              <a:t>Accuracy
Consistency
Traceability
Maintainability</a:t>
            </a:r>
          </a:p>
        </p:txBody>
      </p:sp>
      <p:sp>
        <p:nvSpPr>
          <p:cNvPr id="36" name="Rectangle 35"/>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4526280" y="850392"/>
            <a:ext cx="91440" cy="914400"/>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555" y="896112"/>
            <a:ext cx="12893040" cy="868680"/>
          </a:xfrm>
          <a:prstGeom prst="rect">
            <a:avLst/>
          </a:prstGeom>
          <a:noFill/>
        </p:spPr>
        <p:txBody>
          <a:bodyPr wrap="none" anchor="ctr">
            <a:spAutoFit/>
          </a:bodyPr>
          <a:lstStyle/>
          <a:p>
            <a:pPr algn="ctr"/>
            <a:r>
              <a:rPr sz="2900" b="1">
                <a:solidFill>
                  <a:srgbClr val="0A3769"/>
                </a:solidFill>
                <a:latin typeface="Poppins"/>
              </a:rPr>
              <a:t>Thank You</a:t>
            </a:r>
          </a:p>
        </p:txBody>
      </p:sp>
      <p:sp>
        <p:nvSpPr>
          <p:cNvPr id="30" name="TextBox 29"/>
          <p:cNvSpPr txBox="1"/>
          <p:nvPr/>
        </p:nvSpPr>
        <p:spPr>
          <a:xfrm>
            <a:off x="15636240" y="9555480"/>
            <a:ext cx="914400" cy="256032"/>
          </a:xfrm>
          <a:prstGeom prst="rect">
            <a:avLst/>
          </a:prstGeom>
          <a:noFill/>
        </p:spPr>
        <p:txBody>
          <a:bodyPr wrap="none">
            <a:spAutoFit/>
          </a:bodyPr>
          <a:lstStyle/>
          <a:p>
            <a:pPr algn="r"/>
            <a:r>
              <a:rPr sz="900">
                <a:solidFill>
                  <a:srgbClr val="646E7D"/>
                </a:solidFill>
                <a:latin typeface="Poppins"/>
              </a:rPr>
              <a:t>14</a:t>
            </a:r>
          </a:p>
        </p:txBody>
      </p:sp>
      <p:sp>
        <p:nvSpPr>
          <p:cNvPr id="31" name="TextBox 30"/>
          <p:cNvSpPr txBox="1"/>
          <p:nvPr/>
        </p:nvSpPr>
        <p:spPr>
          <a:xfrm>
            <a:off x="1371600" y="3246120"/>
            <a:ext cx="15544800" cy="1097280"/>
          </a:xfrm>
          <a:prstGeom prst="rect">
            <a:avLst/>
          </a:prstGeom>
          <a:noFill/>
        </p:spPr>
        <p:txBody>
          <a:bodyPr wrap="square" lIns="18288" tIns="18288" rIns="18288" bIns="18288">
            <a:spAutoFit/>
          </a:bodyPr>
          <a:lstStyle/>
          <a:p>
            <a:pPr algn="ctr"/>
            <a:r>
              <a:rPr sz="3800" b="1">
                <a:solidFill>
                  <a:srgbClr val="0A3769"/>
                </a:solidFill>
                <a:latin typeface="Poppins"/>
              </a:rPr>
              <a:t>Thank You</a:t>
            </a:r>
          </a:p>
        </p:txBody>
      </p:sp>
      <p:sp>
        <p:nvSpPr>
          <p:cNvPr id="32" name="TextBox 31"/>
          <p:cNvSpPr txBox="1"/>
          <p:nvPr/>
        </p:nvSpPr>
        <p:spPr>
          <a:xfrm>
            <a:off x="2743200" y="4572000"/>
            <a:ext cx="12801600" cy="731520"/>
          </a:xfrm>
          <a:prstGeom prst="rect">
            <a:avLst/>
          </a:prstGeom>
          <a:noFill/>
        </p:spPr>
        <p:txBody>
          <a:bodyPr wrap="square" lIns="18288" tIns="18288" rIns="18288" bIns="18288">
            <a:spAutoFit/>
          </a:bodyPr>
          <a:lstStyle/>
          <a:p>
            <a:pPr algn="ctr"/>
            <a:r>
              <a:rPr sz="2100" b="1">
                <a:solidFill>
                  <a:srgbClr val="232D3C"/>
                </a:solidFill>
                <a:latin typeface="Poppins"/>
              </a:rPr>
              <a:t>Bank Account Management System</a:t>
            </a:r>
          </a:p>
        </p:txBody>
      </p:sp>
      <p:sp>
        <p:nvSpPr>
          <p:cNvPr id="33" name="TextBox 32"/>
          <p:cNvSpPr txBox="1"/>
          <p:nvPr/>
        </p:nvSpPr>
        <p:spPr>
          <a:xfrm>
            <a:off x="2743200" y="5486400"/>
            <a:ext cx="12801600" cy="548640"/>
          </a:xfrm>
          <a:prstGeom prst="rect">
            <a:avLst/>
          </a:prstGeom>
          <a:noFill/>
        </p:spPr>
        <p:txBody>
          <a:bodyPr wrap="square" lIns="18288" tIns="18288" rIns="18288" bIns="18288">
            <a:spAutoFit/>
          </a:bodyPr>
          <a:lstStyle/>
          <a:p>
            <a:pPr algn="ctr"/>
            <a:r>
              <a:rPr sz="1700" b="0">
                <a:solidFill>
                  <a:srgbClr val="646E7D"/>
                </a:solidFill>
                <a:latin typeface="Poppins"/>
              </a:rPr>
              <a:t>Questions &amp; Discussion</a:t>
            </a:r>
          </a:p>
        </p:txBody>
      </p:sp>
      <p:sp>
        <p:nvSpPr>
          <p:cNvPr id="34" name="Rectangle 33"/>
          <p:cNvSpPr/>
          <p:nvPr/>
        </p:nvSpPr>
        <p:spPr>
          <a:xfrm>
            <a:off x="0" y="0"/>
            <a:ext cx="18288000" cy="109728"/>
          </a:xfrm>
          <a:prstGeom prst="rect">
            <a:avLst/>
          </a:prstGeom>
          <a:solidFill>
            <a:srgbClr val="0A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aditya_logo_small.png"/>
          <p:cNvPicPr>
            <a:picLocks noChangeAspect="1"/>
          </p:cNvPicPr>
          <p:nvPr/>
        </p:nvPicPr>
        <p:blipFill>
          <a:blip r:embed="rId2"/>
          <a:stretch>
            <a:fillRect/>
          </a:stretch>
        </p:blipFill>
        <p:spPr>
          <a:xfrm>
            <a:off x="320040" y="301752"/>
            <a:ext cx="2715768" cy="10698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1079</Words>
  <Application>Microsoft Office PowerPoint</Application>
  <PresentationFormat>Custom</PresentationFormat>
  <Paragraphs>196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Poppins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aparna doddipatla</dc:creator>
  <cp:lastModifiedBy>vinay kumar</cp:lastModifiedBy>
  <cp:revision>6</cp:revision>
  <dcterms:modified xsi:type="dcterms:W3CDTF">2026-08-18T04:16:06Z</dcterms:modified>
</cp:coreProperties>
</file>